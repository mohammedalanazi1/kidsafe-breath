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6" r:id="rId23"/>
    <p:sldId id="277" r:id="rId24"/>
  </p:sldIdLst>
  <p:sldSz cx="18288000" cy="10287000"/>
  <p:notesSz cx="6858000" cy="9144000"/>
  <p:embeddedFontLst>
    <p:embeddedFont>
      <p:font typeface="Arimo" panose="020B0604020202020204" charset="0"/>
      <p:regular r:id="rId25"/>
    </p:embeddedFont>
    <p:embeddedFont>
      <p:font typeface="Ballpoint" panose="020B0604020202020204" charset="0"/>
      <p:regular r:id="rId26"/>
    </p:embeddedFont>
    <p:embeddedFont>
      <p:font typeface="Gagalin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748622" y="1304235"/>
            <a:ext cx="5539378" cy="10132335"/>
          </a:xfrm>
          <a:custGeom>
            <a:avLst/>
            <a:gdLst/>
            <a:ahLst/>
            <a:cxnLst/>
            <a:rect l="l" t="t" r="r" b="b"/>
            <a:pathLst>
              <a:path w="5539378" h="10132335">
                <a:moveTo>
                  <a:pt x="0" y="0"/>
                </a:moveTo>
                <a:lnTo>
                  <a:pt x="5539378" y="0"/>
                </a:lnTo>
                <a:lnTo>
                  <a:pt x="5539378" y="10132335"/>
                </a:lnTo>
                <a:lnTo>
                  <a:pt x="0" y="1013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029252" y="-310225"/>
            <a:ext cx="2677848" cy="2677848"/>
          </a:xfrm>
          <a:custGeom>
            <a:avLst/>
            <a:gdLst/>
            <a:ahLst/>
            <a:cxnLst/>
            <a:rect l="l" t="t" r="r" b="b"/>
            <a:pathLst>
              <a:path w="2677848" h="2677848">
                <a:moveTo>
                  <a:pt x="0" y="0"/>
                </a:moveTo>
                <a:lnTo>
                  <a:pt x="2677848" y="0"/>
                </a:lnTo>
                <a:lnTo>
                  <a:pt x="2677848" y="2677848"/>
                </a:lnTo>
                <a:lnTo>
                  <a:pt x="0" y="2677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>
            <a:off x="-309391" y="0"/>
            <a:ext cx="2599983" cy="2502652"/>
          </a:xfrm>
          <a:custGeom>
            <a:avLst/>
            <a:gdLst/>
            <a:ahLst/>
            <a:cxnLst/>
            <a:rect l="l" t="t" r="r" b="b"/>
            <a:pathLst>
              <a:path w="2599983" h="2502652">
                <a:moveTo>
                  <a:pt x="0" y="0"/>
                </a:moveTo>
                <a:lnTo>
                  <a:pt x="2599983" y="0"/>
                </a:lnTo>
                <a:lnTo>
                  <a:pt x="2599983" y="2502652"/>
                </a:lnTo>
                <a:lnTo>
                  <a:pt x="0" y="25026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388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5906091" y="2160504"/>
            <a:ext cx="6553200" cy="1123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43"/>
              </a:lnSpc>
              <a:spcBef>
                <a:spcPct val="0"/>
              </a:spcBef>
            </a:pPr>
            <a:r>
              <a:rPr lang="en-US" sz="6600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(</a:t>
            </a:r>
            <a:r>
              <a:rPr lang="en-US" sz="6600" dirty="0" err="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kidsafe</a:t>
            </a:r>
            <a:r>
              <a:rPr lang="en-US" sz="6600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 breath</a:t>
            </a:r>
            <a:r>
              <a:rPr lang="ar-SA" sz="6600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(</a:t>
            </a:r>
            <a:endParaRPr lang="en-US" sz="6600" dirty="0">
              <a:solidFill>
                <a:srgbClr val="155C94"/>
              </a:solidFill>
              <a:latin typeface="Gagalin"/>
              <a:ea typeface="Gagalin"/>
              <a:cs typeface="Gagalin"/>
              <a:sym typeface="Gagali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797802" y="4000500"/>
            <a:ext cx="6769778" cy="565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7"/>
              </a:lnSpc>
            </a:pPr>
            <a:r>
              <a:rPr lang="en-US" sz="3176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Mohammed Turki </a:t>
            </a:r>
            <a:r>
              <a:rPr lang="en-US" sz="3176" dirty="0" err="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Alanazi</a:t>
            </a:r>
            <a:endParaRPr lang="en-US" sz="3176" dirty="0">
              <a:solidFill>
                <a:srgbClr val="155C94"/>
              </a:solidFill>
              <a:latin typeface="Gagalin"/>
              <a:ea typeface="Gagalin"/>
              <a:cs typeface="Gagalin"/>
              <a:sym typeface="Gagalin"/>
            </a:endParaRPr>
          </a:p>
          <a:p>
            <a:pPr algn="ctr" rtl="1">
              <a:lnSpc>
                <a:spcPts val="4447"/>
              </a:lnSpc>
            </a:pPr>
            <a:r>
              <a:rPr lang="en-US" sz="3176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Emad Suliman </a:t>
            </a:r>
            <a:r>
              <a:rPr lang="en-US" sz="3176" dirty="0" err="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Albalawi</a:t>
            </a:r>
            <a:r>
              <a:rPr lang="ar-EG" sz="3176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  <a:rtl/>
              </a:rPr>
              <a:t>  </a:t>
            </a:r>
          </a:p>
          <a:p>
            <a:pPr algn="ctr" rtl="1">
              <a:lnSpc>
                <a:spcPts val="4447"/>
              </a:lnSpc>
            </a:pPr>
            <a:r>
              <a:rPr lang="en-US" sz="3176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Ali </a:t>
            </a:r>
            <a:r>
              <a:rPr lang="en-US" sz="3176" dirty="0" err="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Abdulhkim</a:t>
            </a:r>
            <a:r>
              <a:rPr lang="en-US" sz="3176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 </a:t>
            </a:r>
            <a:r>
              <a:rPr lang="en-US" sz="3176" dirty="0" err="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Khalefeh</a:t>
            </a:r>
            <a:r>
              <a:rPr lang="ar-EG" sz="3176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  <a:rtl/>
              </a:rPr>
              <a:t> </a:t>
            </a:r>
          </a:p>
          <a:p>
            <a:pPr algn="ctr" rtl="1">
              <a:lnSpc>
                <a:spcPts val="4447"/>
              </a:lnSpc>
            </a:pPr>
            <a:r>
              <a:rPr lang="en-US" sz="3176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Abdelrahman Haroun Sam</a:t>
            </a:r>
          </a:p>
          <a:p>
            <a:pPr algn="ctr" rtl="1">
              <a:lnSpc>
                <a:spcPts val="4447"/>
              </a:lnSpc>
            </a:pPr>
            <a:r>
              <a:rPr lang="ar-EG" sz="3176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  <a:rtl/>
              </a:rPr>
              <a:t> </a:t>
            </a:r>
          </a:p>
          <a:p>
            <a:pPr algn="ctr" rtl="1">
              <a:lnSpc>
                <a:spcPts val="4867"/>
              </a:lnSpc>
            </a:pPr>
            <a:r>
              <a:rPr lang="en-US" sz="3476" dirty="0">
                <a:solidFill>
                  <a:srgbClr val="155C94"/>
                </a:solidFill>
                <a:latin typeface="Ballpoint"/>
                <a:ea typeface="Ballpoint"/>
                <a:cs typeface="Ballpoint"/>
                <a:sym typeface="Ballpoint"/>
              </a:rPr>
              <a:t>Supervised By</a:t>
            </a:r>
          </a:p>
          <a:p>
            <a:pPr algn="ctr">
              <a:lnSpc>
                <a:spcPts val="4447"/>
              </a:lnSpc>
            </a:pPr>
            <a:r>
              <a:rPr lang="en-US" sz="3176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Prof. Mohammed Alotaibi</a:t>
            </a:r>
          </a:p>
          <a:p>
            <a:pPr algn="ctr" rtl="1">
              <a:lnSpc>
                <a:spcPts val="4447"/>
              </a:lnSpc>
            </a:pPr>
            <a:endParaRPr lang="en-US" sz="3176" dirty="0">
              <a:solidFill>
                <a:srgbClr val="155C94"/>
              </a:solidFill>
              <a:latin typeface="Gagalin"/>
              <a:ea typeface="Gagalin"/>
              <a:cs typeface="Gagalin"/>
              <a:sym typeface="Gagalin"/>
            </a:endParaRPr>
          </a:p>
          <a:p>
            <a:pPr algn="ctr" rtl="1">
              <a:lnSpc>
                <a:spcPts val="4447"/>
              </a:lnSpc>
            </a:pPr>
            <a:endParaRPr lang="en-US" sz="3176" dirty="0">
              <a:solidFill>
                <a:srgbClr val="155C94"/>
              </a:solidFill>
              <a:latin typeface="Gagalin"/>
              <a:ea typeface="Gagalin"/>
              <a:cs typeface="Gagalin"/>
              <a:sym typeface="Gagalin"/>
            </a:endParaRPr>
          </a:p>
          <a:p>
            <a:pPr algn="ctr" rtl="1">
              <a:lnSpc>
                <a:spcPts val="4447"/>
              </a:lnSpc>
            </a:pPr>
            <a:endParaRPr lang="en-US" sz="3176" dirty="0">
              <a:solidFill>
                <a:srgbClr val="155C94"/>
              </a:solidFill>
              <a:latin typeface="Gagalin"/>
              <a:ea typeface="Gagalin"/>
              <a:cs typeface="Gagalin"/>
              <a:sym typeface="Gagalin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4B14D1D-8598-B23C-745E-31FBE2ED6117}"/>
              </a:ext>
            </a:extLst>
          </p:cNvPr>
          <p:cNvSpPr txBox="1"/>
          <p:nvPr/>
        </p:nvSpPr>
        <p:spPr>
          <a:xfrm>
            <a:off x="1905000" y="502208"/>
            <a:ext cx="15621000" cy="1052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43"/>
              </a:lnSpc>
              <a:spcBef>
                <a:spcPct val="0"/>
              </a:spcBef>
            </a:pPr>
            <a:r>
              <a:rPr lang="en-US" sz="4600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Early detection and prevention of choking in children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561781" y="5483806"/>
            <a:ext cx="2625921" cy="4803194"/>
          </a:xfrm>
          <a:custGeom>
            <a:avLst/>
            <a:gdLst/>
            <a:ahLst/>
            <a:cxnLst/>
            <a:rect l="l" t="t" r="r" b="b"/>
            <a:pathLst>
              <a:path w="2625921" h="4803194">
                <a:moveTo>
                  <a:pt x="2625921" y="0"/>
                </a:moveTo>
                <a:lnTo>
                  <a:pt x="0" y="0"/>
                </a:lnTo>
                <a:lnTo>
                  <a:pt x="0" y="4803194"/>
                </a:lnTo>
                <a:lnTo>
                  <a:pt x="2625921" y="4803194"/>
                </a:lnTo>
                <a:lnTo>
                  <a:pt x="2625921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5771" y="1661143"/>
            <a:ext cx="18212229" cy="1504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  <a:spcBef>
                <a:spcPct val="0"/>
              </a:spcBef>
            </a:pPr>
            <a:r>
              <a:rPr lang="en-US" sz="941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66857" y="3484100"/>
            <a:ext cx="13965749" cy="476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64"/>
              </a:lnSpc>
            </a:pPr>
            <a:r>
              <a:rPr lang="en-US" sz="3576" spc="57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Choking poses a serious risk to children under the age of three, especially when symptoms are not immediately visible. Early detection is critical for preventing life-threatening situations. This project, KIDSAFE BREATH, introduces a smart bracelet that continuously monitors vital signs mainly oxygen levels and heart rate and sends real-time alerts to caregivers.The goal is to ensure timely intervention and enhance child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481905" y="5229361"/>
            <a:ext cx="2677848" cy="4898177"/>
          </a:xfrm>
          <a:custGeom>
            <a:avLst/>
            <a:gdLst/>
            <a:ahLst/>
            <a:cxnLst/>
            <a:rect l="l" t="t" r="r" b="b"/>
            <a:pathLst>
              <a:path w="2677848" h="4898177">
                <a:moveTo>
                  <a:pt x="2677848" y="0"/>
                </a:moveTo>
                <a:lnTo>
                  <a:pt x="0" y="0"/>
                </a:lnTo>
                <a:lnTo>
                  <a:pt x="0" y="4898177"/>
                </a:lnTo>
                <a:lnTo>
                  <a:pt x="2677848" y="4898177"/>
                </a:lnTo>
                <a:lnTo>
                  <a:pt x="2677848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492420" y="1171201"/>
            <a:ext cx="11303159" cy="2511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6"/>
              </a:lnSpc>
            </a:pPr>
            <a:r>
              <a:rPr lang="en-US" sz="7809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Problem Overview</a:t>
            </a:r>
          </a:p>
          <a:p>
            <a:pPr algn="ctr">
              <a:lnSpc>
                <a:spcPts val="9996"/>
              </a:lnSpc>
              <a:spcBef>
                <a:spcPct val="0"/>
              </a:spcBef>
            </a:pPr>
            <a:endParaRPr lang="en-US" sz="7809">
              <a:solidFill>
                <a:srgbClr val="155C94"/>
              </a:solidFill>
              <a:latin typeface="Gagalin"/>
              <a:ea typeface="Gagalin"/>
              <a:cs typeface="Gagalin"/>
              <a:sym typeface="Gagalin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388962" y="4367564"/>
            <a:ext cx="7411907" cy="2133539"/>
            <a:chOff x="0" y="0"/>
            <a:chExt cx="9882542" cy="28447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8288" cy="1656997"/>
            </a:xfrm>
            <a:custGeom>
              <a:avLst/>
              <a:gdLst/>
              <a:ahLst/>
              <a:cxnLst/>
              <a:rect l="l" t="t" r="r" b="b"/>
              <a:pathLst>
                <a:path w="1728288" h="1656997">
                  <a:moveTo>
                    <a:pt x="0" y="0"/>
                  </a:moveTo>
                  <a:lnTo>
                    <a:pt x="1728288" y="0"/>
                  </a:lnTo>
                  <a:lnTo>
                    <a:pt x="1728288" y="1656997"/>
                  </a:lnTo>
                  <a:lnTo>
                    <a:pt x="0" y="165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75833" y="-85725"/>
              <a:ext cx="7806710" cy="2930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 rtl="1">
                <a:lnSpc>
                  <a:spcPts val="4652"/>
                </a:lnSpc>
              </a:pPr>
              <a:r>
                <a:rPr lang="en-US" sz="3101" spc="65">
                  <a:solidFill>
                    <a:srgbClr val="155C94"/>
                  </a:solidFill>
                  <a:latin typeface="Gagalin"/>
                  <a:ea typeface="Gagalin"/>
                  <a:cs typeface="Gagalin"/>
                  <a:sym typeface="Gagalin"/>
                </a:rPr>
                <a:t>Difficulty in Early Detection</a:t>
              </a:r>
            </a:p>
            <a:p>
              <a:pPr algn="l">
                <a:lnSpc>
                  <a:spcPts val="4352"/>
                </a:lnSpc>
              </a:pPr>
              <a:r>
                <a:rPr lang="en-US" sz="2901" spc="60">
                  <a:solidFill>
                    <a:srgbClr val="155C9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Choking signs are not always visible in their initial stages.</a:t>
              </a:r>
            </a:p>
            <a:p>
              <a:pPr algn="r" rtl="1">
                <a:lnSpc>
                  <a:spcPts val="4352"/>
                </a:lnSpc>
              </a:pPr>
              <a:endParaRPr lang="en-US" sz="2901" spc="6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5296343" y="7186016"/>
            <a:ext cx="1289824" cy="1237157"/>
          </a:xfrm>
          <a:custGeom>
            <a:avLst/>
            <a:gdLst/>
            <a:ahLst/>
            <a:cxnLst/>
            <a:rect l="l" t="t" r="r" b="b"/>
            <a:pathLst>
              <a:path w="1289824" h="1237157">
                <a:moveTo>
                  <a:pt x="0" y="0"/>
                </a:moveTo>
                <a:lnTo>
                  <a:pt x="1289824" y="0"/>
                </a:lnTo>
                <a:lnTo>
                  <a:pt x="1289824" y="1237157"/>
                </a:lnTo>
                <a:lnTo>
                  <a:pt x="0" y="12371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743998" y="7111216"/>
            <a:ext cx="7880936" cy="1666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2"/>
              </a:lnSpc>
            </a:pPr>
            <a:r>
              <a:rPr lang="en-US" sz="3101" spc="65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Delayed Emergency Response</a:t>
            </a:r>
          </a:p>
          <a:p>
            <a:pPr algn="l">
              <a:lnSpc>
                <a:spcPts val="4352"/>
              </a:lnSpc>
            </a:pPr>
            <a:r>
              <a:rPr lang="en-US" sz="2901" spc="6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immediate alerts, intervention may come too late.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398555" y="4304025"/>
            <a:ext cx="7549641" cy="3191849"/>
            <a:chOff x="0" y="0"/>
            <a:chExt cx="10066188" cy="42557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28288" cy="1656997"/>
            </a:xfrm>
            <a:custGeom>
              <a:avLst/>
              <a:gdLst/>
              <a:ahLst/>
              <a:cxnLst/>
              <a:rect l="l" t="t" r="r" b="b"/>
              <a:pathLst>
                <a:path w="1728288" h="1656997">
                  <a:moveTo>
                    <a:pt x="0" y="0"/>
                  </a:moveTo>
                  <a:lnTo>
                    <a:pt x="1728288" y="0"/>
                  </a:lnTo>
                  <a:lnTo>
                    <a:pt x="1728288" y="1656997"/>
                  </a:lnTo>
                  <a:lnTo>
                    <a:pt x="0" y="165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71188" y="-85725"/>
              <a:ext cx="7994999" cy="4341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 rtl="1">
                <a:lnSpc>
                  <a:spcPts val="4649"/>
                </a:lnSpc>
              </a:pPr>
              <a:r>
                <a:rPr lang="en-US" sz="3099" spc="65">
                  <a:solidFill>
                    <a:srgbClr val="155C94"/>
                  </a:solidFill>
                  <a:latin typeface="Gagalin"/>
                  <a:ea typeface="Gagalin"/>
                  <a:cs typeface="Gagalin"/>
                  <a:sym typeface="Gagalin"/>
                </a:rPr>
                <a:t>Lack of Continuous Supervision</a:t>
              </a:r>
            </a:p>
            <a:p>
              <a:pPr algn="l">
                <a:lnSpc>
                  <a:spcPts val="4350"/>
                </a:lnSpc>
              </a:pPr>
              <a:r>
                <a:rPr lang="en-US" sz="2900" spc="60">
                  <a:solidFill>
                    <a:srgbClr val="155C9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Children cannot be watched every moment, especially during sleep or play.</a:t>
              </a:r>
            </a:p>
            <a:p>
              <a:pPr algn="l">
                <a:lnSpc>
                  <a:spcPts val="4273"/>
                </a:lnSpc>
              </a:pPr>
              <a:endParaRPr lang="en-US" sz="2900" spc="6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just" rtl="1">
                <a:lnSpc>
                  <a:spcPts val="4273"/>
                </a:lnSpc>
              </a:pPr>
              <a:endParaRPr lang="en-US" sz="2900" spc="6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29906" y="5789515"/>
            <a:ext cx="2458789" cy="4497485"/>
          </a:xfrm>
          <a:custGeom>
            <a:avLst/>
            <a:gdLst/>
            <a:ahLst/>
            <a:cxnLst/>
            <a:rect l="l" t="t" r="r" b="b"/>
            <a:pathLst>
              <a:path w="2458789" h="4497485">
                <a:moveTo>
                  <a:pt x="0" y="0"/>
                </a:moveTo>
                <a:lnTo>
                  <a:pt x="2458788" y="0"/>
                </a:lnTo>
                <a:lnTo>
                  <a:pt x="2458788" y="4497485"/>
                </a:lnTo>
                <a:lnTo>
                  <a:pt x="0" y="449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492420" y="1171201"/>
            <a:ext cx="11303159" cy="124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6"/>
              </a:lnSpc>
              <a:spcBef>
                <a:spcPct val="0"/>
              </a:spcBef>
            </a:pPr>
            <a:r>
              <a:rPr lang="en-US" sz="7809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AIMS AND OBJECTIVES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61345" y="3255812"/>
            <a:ext cx="8782655" cy="1976311"/>
            <a:chOff x="0" y="0"/>
            <a:chExt cx="11710207" cy="26350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8288" cy="1656997"/>
            </a:xfrm>
            <a:custGeom>
              <a:avLst/>
              <a:gdLst/>
              <a:ahLst/>
              <a:cxnLst/>
              <a:rect l="l" t="t" r="r" b="b"/>
              <a:pathLst>
                <a:path w="1728288" h="1656997">
                  <a:moveTo>
                    <a:pt x="0" y="0"/>
                  </a:moveTo>
                  <a:lnTo>
                    <a:pt x="1728288" y="0"/>
                  </a:lnTo>
                  <a:lnTo>
                    <a:pt x="1728288" y="1656997"/>
                  </a:lnTo>
                  <a:lnTo>
                    <a:pt x="0" y="165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10257" y="353893"/>
              <a:ext cx="9799950" cy="22811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65"/>
                </a:lnSpc>
                <a:spcBef>
                  <a:spcPct val="0"/>
                </a:spcBef>
              </a:pPr>
              <a:r>
                <a:rPr lang="en-US" sz="2880" spc="46">
                  <a:solidFill>
                    <a:srgbClr val="155C94"/>
                  </a:solidFill>
                  <a:latin typeface="Gagalin"/>
                  <a:ea typeface="Gagalin"/>
                  <a:cs typeface="Gagalin"/>
                  <a:sym typeface="Gagalin"/>
                </a:rPr>
                <a:t>Develop a smart bracelet that monitors heart rate, oxygen saturation, and body temperature.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38187" y="3460056"/>
            <a:ext cx="8218488" cy="1772068"/>
            <a:chOff x="0" y="0"/>
            <a:chExt cx="10957984" cy="23627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28288" cy="1656997"/>
            </a:xfrm>
            <a:custGeom>
              <a:avLst/>
              <a:gdLst/>
              <a:ahLst/>
              <a:cxnLst/>
              <a:rect l="l" t="t" r="r" b="b"/>
              <a:pathLst>
                <a:path w="1728288" h="1656997">
                  <a:moveTo>
                    <a:pt x="0" y="0"/>
                  </a:moveTo>
                  <a:lnTo>
                    <a:pt x="1728288" y="0"/>
                  </a:lnTo>
                  <a:lnTo>
                    <a:pt x="1728288" y="1656997"/>
                  </a:lnTo>
                  <a:lnTo>
                    <a:pt x="0" y="165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06088" y="81557"/>
              <a:ext cx="9051895" cy="22811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65"/>
                </a:lnSpc>
                <a:spcBef>
                  <a:spcPct val="0"/>
                </a:spcBef>
              </a:pPr>
              <a:r>
                <a:rPr lang="en-US" sz="2879" spc="46">
                  <a:solidFill>
                    <a:srgbClr val="155C94"/>
                  </a:solidFill>
                  <a:latin typeface="Gagalin"/>
                  <a:ea typeface="Gagalin"/>
                  <a:cs typeface="Gagalin"/>
                  <a:sym typeface="Gagalin"/>
                </a:rPr>
                <a:t>Detect abnormal vital signs that may indicate choking.</a:t>
              </a:r>
            </a:p>
            <a:p>
              <a:pPr algn="l">
                <a:lnSpc>
                  <a:spcPts val="4665"/>
                </a:lnSpc>
                <a:spcBef>
                  <a:spcPct val="0"/>
                </a:spcBef>
              </a:pPr>
              <a:endParaRPr lang="en-US" sz="2879" spc="46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1345" y="6788651"/>
            <a:ext cx="8192712" cy="2098522"/>
            <a:chOff x="0" y="0"/>
            <a:chExt cx="10923617" cy="2798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19766" cy="1649542"/>
            </a:xfrm>
            <a:custGeom>
              <a:avLst/>
              <a:gdLst/>
              <a:ahLst/>
              <a:cxnLst/>
              <a:rect l="l" t="t" r="r" b="b"/>
              <a:pathLst>
                <a:path w="1719766" h="1649542">
                  <a:moveTo>
                    <a:pt x="0" y="0"/>
                  </a:moveTo>
                  <a:lnTo>
                    <a:pt x="1719766" y="0"/>
                  </a:lnTo>
                  <a:lnTo>
                    <a:pt x="1719766" y="1649542"/>
                  </a:lnTo>
                  <a:lnTo>
                    <a:pt x="0" y="1649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1735" y="516829"/>
              <a:ext cx="9021882" cy="22811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65"/>
                </a:lnSpc>
                <a:spcBef>
                  <a:spcPct val="0"/>
                </a:spcBef>
              </a:pPr>
              <a:r>
                <a:rPr lang="en-US" sz="2879" spc="46">
                  <a:solidFill>
                    <a:srgbClr val="155C94"/>
                  </a:solidFill>
                  <a:latin typeface="Gagalin"/>
                  <a:ea typeface="Gagalin"/>
                  <a:cs typeface="Gagalin"/>
                  <a:sym typeface="Gagalin"/>
                </a:rPr>
                <a:t>Instantly alert caregivers through a mobile application.</a:t>
              </a:r>
            </a:p>
            <a:p>
              <a:pPr algn="l">
                <a:lnSpc>
                  <a:spcPts val="4665"/>
                </a:lnSpc>
                <a:spcBef>
                  <a:spcPct val="0"/>
                </a:spcBef>
              </a:pPr>
              <a:endParaRPr lang="en-US" sz="2879" spc="46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809616" y="6834057"/>
            <a:ext cx="7680138" cy="2087597"/>
            <a:chOff x="0" y="0"/>
            <a:chExt cx="10240183" cy="278346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04579" cy="1634976"/>
            </a:xfrm>
            <a:custGeom>
              <a:avLst/>
              <a:gdLst/>
              <a:ahLst/>
              <a:cxnLst/>
              <a:rect l="l" t="t" r="r" b="b"/>
              <a:pathLst>
                <a:path w="1704579" h="1634976">
                  <a:moveTo>
                    <a:pt x="0" y="0"/>
                  </a:moveTo>
                  <a:lnTo>
                    <a:pt x="1704579" y="0"/>
                  </a:lnTo>
                  <a:lnTo>
                    <a:pt x="1704579" y="1634976"/>
                  </a:lnTo>
                  <a:lnTo>
                    <a:pt x="0" y="1634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08609" y="502263"/>
              <a:ext cx="8331574" cy="22811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65"/>
                </a:lnSpc>
                <a:spcBef>
                  <a:spcPct val="0"/>
                </a:spcBef>
              </a:pPr>
              <a:r>
                <a:rPr lang="en-US" sz="2879" spc="46">
                  <a:solidFill>
                    <a:srgbClr val="155C94"/>
                  </a:solidFill>
                  <a:latin typeface="Gagalin"/>
                  <a:ea typeface="Gagalin"/>
                  <a:cs typeface="Gagalin"/>
                  <a:sym typeface="Gagalin"/>
                </a:rPr>
                <a:t>Provide a clear, real-time health interface for caregivers.</a:t>
              </a:r>
            </a:p>
            <a:p>
              <a:pPr algn="l">
                <a:lnSpc>
                  <a:spcPts val="4665"/>
                </a:lnSpc>
                <a:spcBef>
                  <a:spcPct val="0"/>
                </a:spcBef>
              </a:pPr>
              <a:endParaRPr lang="en-US" sz="2879" spc="46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748622" y="1304235"/>
            <a:ext cx="5539378" cy="10132335"/>
          </a:xfrm>
          <a:custGeom>
            <a:avLst/>
            <a:gdLst/>
            <a:ahLst/>
            <a:cxnLst/>
            <a:rect l="l" t="t" r="r" b="b"/>
            <a:pathLst>
              <a:path w="5539378" h="10132335">
                <a:moveTo>
                  <a:pt x="0" y="0"/>
                </a:moveTo>
                <a:lnTo>
                  <a:pt x="5539378" y="0"/>
                </a:lnTo>
                <a:lnTo>
                  <a:pt x="5539378" y="10132335"/>
                </a:lnTo>
                <a:lnTo>
                  <a:pt x="0" y="1013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610152" y="-310224"/>
            <a:ext cx="2677848" cy="2677848"/>
          </a:xfrm>
          <a:custGeom>
            <a:avLst/>
            <a:gdLst/>
            <a:ahLst/>
            <a:cxnLst/>
            <a:rect l="l" t="t" r="r" b="b"/>
            <a:pathLst>
              <a:path w="2677848" h="2677848">
                <a:moveTo>
                  <a:pt x="0" y="0"/>
                </a:moveTo>
                <a:lnTo>
                  <a:pt x="2677848" y="0"/>
                </a:lnTo>
                <a:lnTo>
                  <a:pt x="2677848" y="2677848"/>
                </a:lnTo>
                <a:lnTo>
                  <a:pt x="0" y="2677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5771" y="0"/>
            <a:ext cx="2599983" cy="2502652"/>
          </a:xfrm>
          <a:custGeom>
            <a:avLst/>
            <a:gdLst/>
            <a:ahLst/>
            <a:cxnLst/>
            <a:rect l="l" t="t" r="r" b="b"/>
            <a:pathLst>
              <a:path w="2599983" h="2502652">
                <a:moveTo>
                  <a:pt x="0" y="0"/>
                </a:moveTo>
                <a:lnTo>
                  <a:pt x="2599983" y="0"/>
                </a:lnTo>
                <a:lnTo>
                  <a:pt x="2599983" y="2502652"/>
                </a:lnTo>
                <a:lnTo>
                  <a:pt x="0" y="25026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38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899679" y="4173275"/>
            <a:ext cx="10417719" cy="1845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33"/>
              </a:lnSpc>
              <a:spcBef>
                <a:spcPct val="0"/>
              </a:spcBef>
            </a:pPr>
            <a:r>
              <a:rPr lang="en-US" sz="1151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RELATED 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004614" y="498571"/>
            <a:ext cx="4899066" cy="111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999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SleepU™</a:t>
            </a:r>
          </a:p>
        </p:txBody>
      </p:sp>
      <p:sp>
        <p:nvSpPr>
          <p:cNvPr id="4" name="AutoShape 4"/>
          <p:cNvSpPr/>
          <p:nvPr/>
        </p:nvSpPr>
        <p:spPr>
          <a:xfrm>
            <a:off x="9803398" y="0"/>
            <a:ext cx="8484602" cy="10287000"/>
          </a:xfrm>
          <a:prstGeom prst="rect">
            <a:avLst/>
          </a:prstGeom>
          <a:solidFill>
            <a:srgbClr val="CFD9DC">
              <a:alpha val="48627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0" y="7643071"/>
            <a:ext cx="1419353" cy="2643929"/>
          </a:xfrm>
          <a:custGeom>
            <a:avLst/>
            <a:gdLst/>
            <a:ahLst/>
            <a:cxnLst/>
            <a:rect l="l" t="t" r="r" b="b"/>
            <a:pathLst>
              <a:path w="1419353" h="2643929">
                <a:moveTo>
                  <a:pt x="1419353" y="0"/>
                </a:moveTo>
                <a:lnTo>
                  <a:pt x="0" y="0"/>
                </a:lnTo>
                <a:lnTo>
                  <a:pt x="0" y="2643929"/>
                </a:lnTo>
                <a:lnTo>
                  <a:pt x="1419353" y="2643929"/>
                </a:lnTo>
                <a:lnTo>
                  <a:pt x="1419353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-82504" r="-37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868647" y="7643071"/>
            <a:ext cx="1419353" cy="2643929"/>
          </a:xfrm>
          <a:custGeom>
            <a:avLst/>
            <a:gdLst/>
            <a:ahLst/>
            <a:cxnLst/>
            <a:rect l="l" t="t" r="r" b="b"/>
            <a:pathLst>
              <a:path w="1419353" h="2643929">
                <a:moveTo>
                  <a:pt x="0" y="0"/>
                </a:moveTo>
                <a:lnTo>
                  <a:pt x="1419353" y="0"/>
                </a:lnTo>
                <a:lnTo>
                  <a:pt x="1419353" y="2643929"/>
                </a:lnTo>
                <a:lnTo>
                  <a:pt x="0" y="26439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-82504" r="-37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586830" y="2144188"/>
            <a:ext cx="3966370" cy="878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ADVANTAGES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43239" y="2201338"/>
            <a:ext cx="6998570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  <a:spcBef>
                <a:spcPct val="0"/>
              </a:spcBef>
            </a:pPr>
            <a:r>
              <a:rPr lang="en-US" sz="5499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DISADVANTAGES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34493" y="3538013"/>
            <a:ext cx="5845969" cy="4653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5299" lvl="1" indent="-412650" algn="l">
              <a:lnSpc>
                <a:spcPts val="6192"/>
              </a:lnSpc>
              <a:buFont typeface="Arial"/>
              <a:buChar char="•"/>
            </a:pPr>
            <a:r>
              <a:rPr lang="en-US" sz="3822" spc="61">
                <a:solidFill>
                  <a:srgbClr val="155C94"/>
                </a:solidFill>
                <a:latin typeface="Arimo"/>
                <a:ea typeface="Arimo"/>
                <a:cs typeface="Arimo"/>
                <a:sym typeface="Arimo"/>
              </a:rPr>
              <a:t>Continuous monitoring</a:t>
            </a:r>
          </a:p>
          <a:p>
            <a:pPr marL="825299" lvl="1" indent="-412650" algn="l">
              <a:lnSpc>
                <a:spcPts val="6192"/>
              </a:lnSpc>
              <a:buFont typeface="Arial"/>
              <a:buChar char="•"/>
            </a:pPr>
            <a:r>
              <a:rPr lang="en-US" sz="3822" spc="61">
                <a:solidFill>
                  <a:srgbClr val="155C94"/>
                </a:solidFill>
                <a:latin typeface="Arimo"/>
                <a:ea typeface="Arimo"/>
                <a:cs typeface="Arimo"/>
                <a:sym typeface="Arimo"/>
              </a:rPr>
              <a:t>ALERT SYSTEMS</a:t>
            </a:r>
          </a:p>
          <a:p>
            <a:pPr marL="825299" lvl="1" indent="-412650" algn="l">
              <a:lnSpc>
                <a:spcPts val="6192"/>
              </a:lnSpc>
              <a:buFont typeface="Arial"/>
              <a:buChar char="•"/>
            </a:pPr>
            <a:r>
              <a:rPr lang="en-US" sz="3822" spc="61">
                <a:solidFill>
                  <a:srgbClr val="155C94"/>
                </a:solidFill>
                <a:latin typeface="Arimo"/>
                <a:ea typeface="Arimo"/>
                <a:cs typeface="Arimo"/>
                <a:sym typeface="Arimo"/>
              </a:rPr>
              <a:t>Data analysis</a:t>
            </a:r>
          </a:p>
          <a:p>
            <a:pPr marL="825299" lvl="1" indent="-412650" algn="l">
              <a:lnSpc>
                <a:spcPts val="6192"/>
              </a:lnSpc>
              <a:buFont typeface="Arial"/>
              <a:buChar char="•"/>
            </a:pPr>
            <a:r>
              <a:rPr lang="en-US" sz="3822" spc="61">
                <a:solidFill>
                  <a:srgbClr val="155C94"/>
                </a:solidFill>
                <a:latin typeface="Arimo"/>
                <a:ea typeface="Arimo"/>
                <a:cs typeface="Arimo"/>
                <a:sym typeface="Arimo"/>
              </a:rPr>
              <a:t>Comfortable design</a:t>
            </a:r>
          </a:p>
          <a:p>
            <a:pPr marL="825299" lvl="1" indent="-412650" algn="l">
              <a:lnSpc>
                <a:spcPts val="6192"/>
              </a:lnSpc>
              <a:buFont typeface="Arial"/>
              <a:buChar char="•"/>
            </a:pPr>
            <a:r>
              <a:rPr lang="en-US" sz="3822" spc="61">
                <a:solidFill>
                  <a:srgbClr val="155C94"/>
                </a:solidFill>
                <a:latin typeface="Arimo"/>
                <a:ea typeface="Arimo"/>
                <a:cs typeface="Arimo"/>
                <a:sym typeface="Arimo"/>
              </a:rPr>
              <a:t>Battery life</a:t>
            </a:r>
          </a:p>
          <a:p>
            <a:pPr algn="l">
              <a:lnSpc>
                <a:spcPts val="6192"/>
              </a:lnSpc>
            </a:pPr>
            <a:endParaRPr lang="en-US" sz="3822" spc="61">
              <a:solidFill>
                <a:srgbClr val="155C94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86070" y="3538013"/>
            <a:ext cx="4422815" cy="387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5299" lvl="1" indent="-412650" algn="l">
              <a:lnSpc>
                <a:spcPts val="6192"/>
              </a:lnSpc>
              <a:buFont typeface="Arial"/>
              <a:buChar char="•"/>
            </a:pPr>
            <a:r>
              <a:rPr lang="en-US" sz="3822" spc="61">
                <a:solidFill>
                  <a:srgbClr val="155C94"/>
                </a:solidFill>
                <a:latin typeface="Arimo"/>
                <a:ea typeface="Arimo"/>
                <a:cs typeface="Arimo"/>
                <a:sym typeface="Arimo"/>
              </a:rPr>
              <a:t>Accuracy</a:t>
            </a:r>
          </a:p>
          <a:p>
            <a:pPr marL="825299" lvl="1" indent="-412650" algn="l">
              <a:lnSpc>
                <a:spcPts val="6192"/>
              </a:lnSpc>
              <a:buFont typeface="Arial"/>
              <a:buChar char="•"/>
            </a:pPr>
            <a:r>
              <a:rPr lang="en-US" sz="3822" spc="61">
                <a:solidFill>
                  <a:srgbClr val="155C94"/>
                </a:solidFill>
                <a:latin typeface="Arimo"/>
                <a:ea typeface="Arimo"/>
                <a:cs typeface="Arimo"/>
                <a:sym typeface="Arimo"/>
              </a:rPr>
              <a:t>COST</a:t>
            </a:r>
          </a:p>
          <a:p>
            <a:pPr marL="825299" lvl="1" indent="-412650" algn="l">
              <a:lnSpc>
                <a:spcPts val="6192"/>
              </a:lnSpc>
              <a:buFont typeface="Arial"/>
              <a:buChar char="•"/>
            </a:pPr>
            <a:r>
              <a:rPr lang="en-US" sz="3822" spc="61">
                <a:solidFill>
                  <a:srgbClr val="155C94"/>
                </a:solidFill>
                <a:latin typeface="Arimo"/>
                <a:ea typeface="Arimo"/>
                <a:cs typeface="Arimo"/>
                <a:sym typeface="Arimo"/>
              </a:rPr>
              <a:t>Limited to SpO2</a:t>
            </a:r>
          </a:p>
          <a:p>
            <a:pPr algn="l">
              <a:lnSpc>
                <a:spcPts val="6192"/>
              </a:lnSpc>
            </a:pPr>
            <a:endParaRPr lang="en-US" sz="3822" spc="61">
              <a:solidFill>
                <a:srgbClr val="155C94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6192"/>
              </a:lnSpc>
            </a:pPr>
            <a:endParaRPr lang="en-US" sz="3822" spc="61">
              <a:solidFill>
                <a:srgbClr val="155C94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004614" y="498571"/>
            <a:ext cx="4899066" cy="111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999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KidsO2™</a:t>
            </a:r>
          </a:p>
        </p:txBody>
      </p:sp>
      <p:sp>
        <p:nvSpPr>
          <p:cNvPr id="4" name="AutoShape 4"/>
          <p:cNvSpPr/>
          <p:nvPr/>
        </p:nvSpPr>
        <p:spPr>
          <a:xfrm>
            <a:off x="9803398" y="0"/>
            <a:ext cx="8484602" cy="10287000"/>
          </a:xfrm>
          <a:prstGeom prst="rect">
            <a:avLst/>
          </a:prstGeom>
          <a:solidFill>
            <a:srgbClr val="CFD9DC">
              <a:alpha val="48627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0" y="7643071"/>
            <a:ext cx="1419353" cy="2643929"/>
          </a:xfrm>
          <a:custGeom>
            <a:avLst/>
            <a:gdLst/>
            <a:ahLst/>
            <a:cxnLst/>
            <a:rect l="l" t="t" r="r" b="b"/>
            <a:pathLst>
              <a:path w="1419353" h="2643929">
                <a:moveTo>
                  <a:pt x="1419353" y="0"/>
                </a:moveTo>
                <a:lnTo>
                  <a:pt x="0" y="0"/>
                </a:lnTo>
                <a:lnTo>
                  <a:pt x="0" y="2643929"/>
                </a:lnTo>
                <a:lnTo>
                  <a:pt x="1419353" y="2643929"/>
                </a:lnTo>
                <a:lnTo>
                  <a:pt x="1419353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-82504" r="-37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868647" y="7643071"/>
            <a:ext cx="1419353" cy="2643929"/>
          </a:xfrm>
          <a:custGeom>
            <a:avLst/>
            <a:gdLst/>
            <a:ahLst/>
            <a:cxnLst/>
            <a:rect l="l" t="t" r="r" b="b"/>
            <a:pathLst>
              <a:path w="1419353" h="2643929">
                <a:moveTo>
                  <a:pt x="0" y="0"/>
                </a:moveTo>
                <a:lnTo>
                  <a:pt x="1419353" y="0"/>
                </a:lnTo>
                <a:lnTo>
                  <a:pt x="1419353" y="2643929"/>
                </a:lnTo>
                <a:lnTo>
                  <a:pt x="0" y="26439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-82504" r="-37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586830" y="2144188"/>
            <a:ext cx="4042570" cy="878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ADVANTAGES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43239" y="2201338"/>
            <a:ext cx="6998570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  <a:spcBef>
                <a:spcPct val="0"/>
              </a:spcBef>
            </a:pPr>
            <a:r>
              <a:rPr lang="en-US" sz="5499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DISADVANTAGES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499913"/>
            <a:ext cx="8115300" cy="4960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1006" lvl="1" indent="-370503" algn="l">
              <a:lnSpc>
                <a:spcPts val="5560"/>
              </a:lnSpc>
              <a:buFont typeface="Arial"/>
              <a:buChar char="•"/>
            </a:pPr>
            <a:r>
              <a:rPr lang="en-US" sz="3432" spc="54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monitoring</a:t>
            </a:r>
          </a:p>
          <a:p>
            <a:pPr marL="741006" lvl="1" indent="-370503" algn="l">
              <a:lnSpc>
                <a:spcPts val="5560"/>
              </a:lnSpc>
              <a:buFont typeface="Arial"/>
              <a:buChar char="•"/>
            </a:pPr>
            <a:r>
              <a:rPr lang="en-US" sz="3432" spc="54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alerts</a:t>
            </a:r>
          </a:p>
          <a:p>
            <a:pPr marL="741006" lvl="1" indent="-370503" algn="l">
              <a:lnSpc>
                <a:spcPts val="5560"/>
              </a:lnSpc>
              <a:buFont typeface="Arial"/>
              <a:buChar char="•"/>
            </a:pPr>
            <a:r>
              <a:rPr lang="en-US" sz="3432" spc="54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Compact and comfortable</a:t>
            </a:r>
          </a:p>
          <a:p>
            <a:pPr marL="741006" lvl="1" indent="-370503" algn="l">
              <a:lnSpc>
                <a:spcPts val="5560"/>
              </a:lnSpc>
              <a:buFont typeface="Arial"/>
              <a:buChar char="•"/>
            </a:pPr>
            <a:r>
              <a:rPr lang="en-US" sz="3432" spc="54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Ideal for children with health conditions</a:t>
            </a:r>
          </a:p>
          <a:p>
            <a:pPr marL="741006" lvl="1" indent="-370503" algn="l">
              <a:lnSpc>
                <a:spcPts val="5560"/>
              </a:lnSpc>
              <a:buFont typeface="Arial"/>
              <a:buChar char="•"/>
            </a:pPr>
            <a:r>
              <a:rPr lang="en-US" sz="3432" spc="54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life</a:t>
            </a:r>
          </a:p>
          <a:p>
            <a:pPr algn="l">
              <a:lnSpc>
                <a:spcPts val="5560"/>
              </a:lnSpc>
            </a:pPr>
            <a:endParaRPr lang="en-US" sz="3432" spc="54">
              <a:solidFill>
                <a:srgbClr val="155C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512212" y="3538013"/>
            <a:ext cx="7552015" cy="4571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3120" lvl="1" indent="-366560" algn="l">
              <a:lnSpc>
                <a:spcPts val="5127"/>
              </a:lnSpc>
              <a:buFont typeface="Arial"/>
              <a:buChar char="•"/>
            </a:pPr>
            <a:r>
              <a:rPr lang="en-US" sz="3395" spc="54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to children 3-10 years old</a:t>
            </a:r>
          </a:p>
          <a:p>
            <a:pPr marL="733120" lvl="1" indent="-366560" algn="l">
              <a:lnSpc>
                <a:spcPts val="5127"/>
              </a:lnSpc>
              <a:buFont typeface="Arial"/>
              <a:buChar char="•"/>
            </a:pPr>
            <a:r>
              <a:rPr lang="en-US" sz="3395" spc="54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</a:t>
            </a:r>
          </a:p>
          <a:p>
            <a:pPr marL="733120" lvl="1" indent="-366560" algn="l">
              <a:lnSpc>
                <a:spcPts val="5127"/>
              </a:lnSpc>
              <a:buFont typeface="Arial"/>
              <a:buChar char="•"/>
            </a:pPr>
            <a:r>
              <a:rPr lang="en-US" sz="3395" spc="54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smartphone connectivity</a:t>
            </a:r>
          </a:p>
          <a:p>
            <a:pPr marL="733120" lvl="1" indent="-366560" algn="l">
              <a:lnSpc>
                <a:spcPts val="5127"/>
              </a:lnSpc>
              <a:buFont typeface="Arial"/>
              <a:buChar char="•"/>
            </a:pPr>
            <a:r>
              <a:rPr lang="en-US" sz="3395" spc="54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not be suitable for all children</a:t>
            </a:r>
          </a:p>
          <a:p>
            <a:pPr marL="733120" lvl="1" indent="-366560" algn="l">
              <a:lnSpc>
                <a:spcPts val="5127"/>
              </a:lnSpc>
              <a:buFont typeface="Arial"/>
              <a:buChar char="•"/>
            </a:pPr>
            <a:r>
              <a:rPr lang="en-US" sz="3395" spc="54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not detect all respiratory issues</a:t>
            </a:r>
          </a:p>
          <a:p>
            <a:pPr algn="l">
              <a:lnSpc>
                <a:spcPts val="5127"/>
              </a:lnSpc>
            </a:pPr>
            <a:endParaRPr lang="en-US" sz="3395" spc="54">
              <a:solidFill>
                <a:srgbClr val="155C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127"/>
              </a:lnSpc>
            </a:pPr>
            <a:endParaRPr lang="en-US" sz="3395" spc="54">
              <a:solidFill>
                <a:srgbClr val="155C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532" y="833"/>
            <a:ext cx="18284468" cy="10285013"/>
          </a:xfrm>
          <a:custGeom>
            <a:avLst/>
            <a:gdLst/>
            <a:ahLst/>
            <a:cxnLst/>
            <a:rect l="l" t="t" r="r" b="b"/>
            <a:pathLst>
              <a:path w="18284468" h="10285013">
                <a:moveTo>
                  <a:pt x="18284468" y="0"/>
                </a:moveTo>
                <a:lnTo>
                  <a:pt x="0" y="0"/>
                </a:lnTo>
                <a:lnTo>
                  <a:pt x="0" y="10285013"/>
                </a:lnTo>
                <a:lnTo>
                  <a:pt x="18284468" y="10285013"/>
                </a:lnTo>
                <a:lnTo>
                  <a:pt x="18284468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767440"/>
              </p:ext>
            </p:extLst>
          </p:nvPr>
        </p:nvGraphicFramePr>
        <p:xfrm>
          <a:off x="3886200" y="1532390"/>
          <a:ext cx="10515601" cy="8036960"/>
        </p:xfrm>
        <a:graphic>
          <a:graphicData uri="http://schemas.openxmlformats.org/drawingml/2006/table">
            <a:tbl>
              <a:tblPr/>
              <a:tblGrid>
                <a:gridCol w="6126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5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2704">
                <a:tc>
                  <a:txBody>
                    <a:bodyPr/>
                    <a:lstStyle/>
                    <a:p>
                      <a:pPr algn="just">
                        <a:lnSpc>
                          <a:spcPts val="1958"/>
                        </a:lnSpc>
                        <a:defRPr/>
                      </a:pPr>
                      <a:endParaRPr lang="en-US" sz="1100" dirty="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958"/>
                        </a:lnSpc>
                        <a:defRPr/>
                      </a:pPr>
                      <a:endParaRPr lang="en-US" sz="1100" dirty="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8733"/>
                        </a:lnSpc>
                        <a:defRPr/>
                      </a:pPr>
                      <a:r>
                        <a:rPr lang="en-US" sz="6238" dirty="0" err="1">
                          <a:solidFill>
                            <a:srgbClr val="F6F0DD"/>
                          </a:solidFill>
                          <a:latin typeface="Ballpoint"/>
                          <a:ea typeface="Ballpoint"/>
                          <a:cs typeface="Ballpoint"/>
                          <a:sym typeface="Ballpoint"/>
                        </a:rPr>
                        <a:t>SleepU</a:t>
                      </a:r>
                      <a:endParaRPr lang="en-US" sz="1100" dirty="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564">
                <a:tc>
                  <a:txBody>
                    <a:bodyPr/>
                    <a:lstStyle/>
                    <a:p>
                      <a:pPr algn="just">
                        <a:lnSpc>
                          <a:spcPts val="1958"/>
                        </a:lnSpc>
                        <a:defRPr/>
                      </a:pPr>
                      <a:endParaRPr lang="en-US" sz="1100" dirty="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958"/>
                        </a:lnSpc>
                        <a:defRPr/>
                      </a:pPr>
                      <a:endParaRPr lang="en-US" sz="1100" dirty="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958"/>
                        </a:lnSpc>
                        <a:defRPr/>
                      </a:pPr>
                      <a:endParaRPr lang="en-US" sz="110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8564">
                <a:tc>
                  <a:txBody>
                    <a:bodyPr/>
                    <a:lstStyle/>
                    <a:p>
                      <a:pPr algn="just">
                        <a:lnSpc>
                          <a:spcPts val="1566"/>
                        </a:lnSpc>
                        <a:defRPr/>
                      </a:pPr>
                      <a:endParaRPr lang="en-US" sz="1100" dirty="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958"/>
                        </a:lnSpc>
                        <a:defRPr/>
                      </a:pPr>
                      <a:endParaRPr lang="en-US" sz="110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958"/>
                        </a:lnSpc>
                        <a:defRPr/>
                      </a:pPr>
                      <a:endParaRPr lang="en-US" sz="1100" dirty="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8564">
                <a:tc>
                  <a:txBody>
                    <a:bodyPr/>
                    <a:lstStyle/>
                    <a:p>
                      <a:pPr algn="just">
                        <a:lnSpc>
                          <a:spcPts val="1958"/>
                        </a:lnSpc>
                        <a:defRPr/>
                      </a:pPr>
                      <a:endParaRPr lang="en-US" sz="110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958"/>
                        </a:lnSpc>
                        <a:defRPr/>
                      </a:pPr>
                      <a:endParaRPr lang="en-US" sz="110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958"/>
                        </a:lnSpc>
                        <a:defRPr/>
                      </a:pPr>
                      <a:endParaRPr lang="en-US" sz="110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8564">
                <a:tc>
                  <a:txBody>
                    <a:bodyPr/>
                    <a:lstStyle/>
                    <a:p>
                      <a:pPr algn="just">
                        <a:lnSpc>
                          <a:spcPts val="1958"/>
                        </a:lnSpc>
                        <a:defRPr/>
                      </a:pPr>
                      <a:endParaRPr lang="en-US" sz="1100" dirty="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958"/>
                        </a:lnSpc>
                        <a:defRPr/>
                      </a:pPr>
                      <a:endParaRPr lang="en-US" sz="110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958"/>
                        </a:lnSpc>
                        <a:defRPr/>
                      </a:pPr>
                      <a:endParaRPr lang="en-US" sz="1100" dirty="0"/>
                    </a:p>
                  </a:txBody>
                  <a:tcPr marL="177640" marR="177640" marT="177640" marB="17764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C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12634486" y="3420088"/>
            <a:ext cx="1045290" cy="1045290"/>
          </a:xfrm>
          <a:custGeom>
            <a:avLst/>
            <a:gdLst/>
            <a:ahLst/>
            <a:cxnLst/>
            <a:rect l="l" t="t" r="r" b="b"/>
            <a:pathLst>
              <a:path w="1045290" h="1045290">
                <a:moveTo>
                  <a:pt x="0" y="0"/>
                </a:moveTo>
                <a:lnTo>
                  <a:pt x="1045290" y="0"/>
                </a:lnTo>
                <a:lnTo>
                  <a:pt x="1045290" y="1045290"/>
                </a:lnTo>
                <a:lnTo>
                  <a:pt x="0" y="10452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416371" y="353591"/>
            <a:ext cx="11455257" cy="1019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46"/>
              </a:lnSpc>
              <a:spcBef>
                <a:spcPct val="0"/>
              </a:spcBef>
            </a:pPr>
            <a:r>
              <a:rPr lang="en-US" sz="6911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Works related comparisons</a:t>
            </a:r>
          </a:p>
        </p:txBody>
      </p:sp>
      <p:sp>
        <p:nvSpPr>
          <p:cNvPr id="6" name="Freeform 6"/>
          <p:cNvSpPr/>
          <p:nvPr/>
        </p:nvSpPr>
        <p:spPr>
          <a:xfrm>
            <a:off x="10306937" y="3434806"/>
            <a:ext cx="1030572" cy="1030572"/>
          </a:xfrm>
          <a:custGeom>
            <a:avLst/>
            <a:gdLst/>
            <a:ahLst/>
            <a:cxnLst/>
            <a:rect l="l" t="t" r="r" b="b"/>
            <a:pathLst>
              <a:path w="1030572" h="1030572">
                <a:moveTo>
                  <a:pt x="0" y="0"/>
                </a:moveTo>
                <a:lnTo>
                  <a:pt x="1030573" y="0"/>
                </a:lnTo>
                <a:lnTo>
                  <a:pt x="1030573" y="1030572"/>
                </a:lnTo>
                <a:lnTo>
                  <a:pt x="0" y="10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314296" y="6317463"/>
            <a:ext cx="1030572" cy="1030572"/>
          </a:xfrm>
          <a:custGeom>
            <a:avLst/>
            <a:gdLst/>
            <a:ahLst/>
            <a:cxnLst/>
            <a:rect l="l" t="t" r="r" b="b"/>
            <a:pathLst>
              <a:path w="1030572" h="1030572">
                <a:moveTo>
                  <a:pt x="0" y="0"/>
                </a:moveTo>
                <a:lnTo>
                  <a:pt x="1030573" y="0"/>
                </a:lnTo>
                <a:lnTo>
                  <a:pt x="1030573" y="1030572"/>
                </a:lnTo>
                <a:lnTo>
                  <a:pt x="0" y="10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306937" y="7724038"/>
            <a:ext cx="1030572" cy="1030572"/>
          </a:xfrm>
          <a:custGeom>
            <a:avLst/>
            <a:gdLst/>
            <a:ahLst/>
            <a:cxnLst/>
            <a:rect l="l" t="t" r="r" b="b"/>
            <a:pathLst>
              <a:path w="1030572" h="1030572">
                <a:moveTo>
                  <a:pt x="0" y="0"/>
                </a:moveTo>
                <a:lnTo>
                  <a:pt x="1030573" y="0"/>
                </a:lnTo>
                <a:lnTo>
                  <a:pt x="1030573" y="1030572"/>
                </a:lnTo>
                <a:lnTo>
                  <a:pt x="0" y="10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/>
          <p:cNvSpPr/>
          <p:nvPr/>
        </p:nvSpPr>
        <p:spPr>
          <a:xfrm>
            <a:off x="12634486" y="4878319"/>
            <a:ext cx="1030572" cy="1030572"/>
          </a:xfrm>
          <a:custGeom>
            <a:avLst/>
            <a:gdLst/>
            <a:ahLst/>
            <a:cxnLst/>
            <a:rect l="l" t="t" r="r" b="b"/>
            <a:pathLst>
              <a:path w="1030572" h="1030572">
                <a:moveTo>
                  <a:pt x="0" y="0"/>
                </a:moveTo>
                <a:lnTo>
                  <a:pt x="1030572" y="0"/>
                </a:lnTo>
                <a:lnTo>
                  <a:pt x="1030572" y="1030573"/>
                </a:lnTo>
                <a:lnTo>
                  <a:pt x="0" y="10305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649204" y="7724038"/>
            <a:ext cx="1030572" cy="1030572"/>
          </a:xfrm>
          <a:custGeom>
            <a:avLst/>
            <a:gdLst/>
            <a:ahLst/>
            <a:cxnLst/>
            <a:rect l="l" t="t" r="r" b="b"/>
            <a:pathLst>
              <a:path w="1030572" h="1030572">
                <a:moveTo>
                  <a:pt x="0" y="0"/>
                </a:moveTo>
                <a:lnTo>
                  <a:pt x="1030572" y="0"/>
                </a:lnTo>
                <a:lnTo>
                  <a:pt x="1030572" y="1030572"/>
                </a:lnTo>
                <a:lnTo>
                  <a:pt x="0" y="1030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619768" y="6317463"/>
            <a:ext cx="1045290" cy="1045290"/>
          </a:xfrm>
          <a:custGeom>
            <a:avLst/>
            <a:gdLst/>
            <a:ahLst/>
            <a:cxnLst/>
            <a:rect l="l" t="t" r="r" b="b"/>
            <a:pathLst>
              <a:path w="1045290" h="1045290">
                <a:moveTo>
                  <a:pt x="0" y="0"/>
                </a:moveTo>
                <a:lnTo>
                  <a:pt x="1045290" y="0"/>
                </a:lnTo>
                <a:lnTo>
                  <a:pt x="1045290" y="1045290"/>
                </a:lnTo>
                <a:lnTo>
                  <a:pt x="0" y="10452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292219" y="4824322"/>
            <a:ext cx="1045290" cy="1045290"/>
          </a:xfrm>
          <a:custGeom>
            <a:avLst/>
            <a:gdLst/>
            <a:ahLst/>
            <a:cxnLst/>
            <a:rect l="l" t="t" r="r" b="b"/>
            <a:pathLst>
              <a:path w="1045290" h="1045290">
                <a:moveTo>
                  <a:pt x="0" y="0"/>
                </a:moveTo>
                <a:lnTo>
                  <a:pt x="1045291" y="0"/>
                </a:lnTo>
                <a:lnTo>
                  <a:pt x="1045291" y="1045290"/>
                </a:lnTo>
                <a:lnTo>
                  <a:pt x="0" y="10452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4848142" y="1790399"/>
            <a:ext cx="3366058" cy="1093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43"/>
              </a:lnSpc>
              <a:spcBef>
                <a:spcPct val="0"/>
              </a:spcBef>
            </a:pPr>
            <a:r>
              <a:rPr lang="en-US" sz="7377" dirty="0">
                <a:solidFill>
                  <a:srgbClr val="F6F0DD"/>
                </a:solidFill>
                <a:latin typeface="Ballpoint"/>
                <a:ea typeface="Ballpoint"/>
                <a:cs typeface="Ballpoint"/>
                <a:sym typeface="Ballpoint"/>
              </a:rPr>
              <a:t>Feature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84465" y="1973213"/>
            <a:ext cx="2275515" cy="996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28"/>
              </a:lnSpc>
            </a:pPr>
            <a:r>
              <a:rPr lang="en-US" sz="6234" dirty="0">
                <a:solidFill>
                  <a:srgbClr val="F6F0DD"/>
                </a:solidFill>
                <a:latin typeface="Ballpoint"/>
                <a:ea typeface="Ballpoint"/>
                <a:cs typeface="Ballpoint"/>
                <a:sym typeface="Ballpoint"/>
              </a:rPr>
              <a:t>kidsO2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790929" y="5025864"/>
            <a:ext cx="2497071" cy="4567508"/>
          </a:xfrm>
          <a:custGeom>
            <a:avLst/>
            <a:gdLst/>
            <a:ahLst/>
            <a:cxnLst/>
            <a:rect l="l" t="t" r="r" b="b"/>
            <a:pathLst>
              <a:path w="2497071" h="4567508">
                <a:moveTo>
                  <a:pt x="0" y="0"/>
                </a:moveTo>
                <a:lnTo>
                  <a:pt x="2497071" y="0"/>
                </a:lnTo>
                <a:lnTo>
                  <a:pt x="2497071" y="4567509"/>
                </a:lnTo>
                <a:lnTo>
                  <a:pt x="0" y="45675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4369469" y="3366880"/>
            <a:ext cx="4640491" cy="795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095"/>
              </a:lnSpc>
              <a:spcBef>
                <a:spcPct val="0"/>
              </a:spcBef>
            </a:pPr>
            <a:r>
              <a:rPr lang="en-US" sz="4380" spc="70" dirty="0">
                <a:solidFill>
                  <a:srgbClr val="F6F0DD"/>
                </a:solidFill>
                <a:latin typeface="Ballpoint"/>
                <a:ea typeface="Ballpoint"/>
                <a:cs typeface="Ballpoint"/>
                <a:sym typeface="Ballpoint"/>
              </a:rPr>
              <a:t>Basic Oxygen Monitoring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77796" y="4758067"/>
            <a:ext cx="5116984" cy="81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095"/>
              </a:lnSpc>
              <a:spcBef>
                <a:spcPct val="0"/>
              </a:spcBef>
            </a:pPr>
            <a:r>
              <a:rPr lang="en-US" sz="5000" spc="70" dirty="0">
                <a:solidFill>
                  <a:srgbClr val="F6F0DD"/>
                </a:solidFill>
                <a:latin typeface="Ballpoint"/>
                <a:ea typeface="Ballpoint"/>
                <a:cs typeface="Ballpoint"/>
                <a:sym typeface="Ballpoint"/>
              </a:rPr>
              <a:t>Sleep Pattern Monitoring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54863" y="6316640"/>
            <a:ext cx="3982918" cy="80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095"/>
              </a:lnSpc>
              <a:spcBef>
                <a:spcPct val="0"/>
              </a:spcBef>
            </a:pPr>
            <a:r>
              <a:rPr lang="en-US" sz="4800" spc="70" dirty="0">
                <a:solidFill>
                  <a:srgbClr val="F6F0DD"/>
                </a:solidFill>
                <a:latin typeface="Ballpoint"/>
                <a:ea typeface="Ballpoint"/>
                <a:cs typeface="Ballpoint"/>
                <a:sym typeface="Ballpoint"/>
              </a:rPr>
              <a:t>Low Oxygen Alert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74043" y="7650424"/>
            <a:ext cx="4869957" cy="795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095"/>
              </a:lnSpc>
              <a:spcBef>
                <a:spcPct val="0"/>
              </a:spcBef>
            </a:pPr>
            <a:r>
              <a:rPr lang="en-US" sz="4380" spc="70" dirty="0">
                <a:solidFill>
                  <a:srgbClr val="F6F0DD"/>
                </a:solidFill>
                <a:latin typeface="Ballpoint"/>
                <a:ea typeface="Ballpoint"/>
                <a:cs typeface="Ballpoint"/>
                <a:sym typeface="Ballpoint"/>
              </a:rPr>
              <a:t>Smartphone Connectivity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17210" y="5639303"/>
            <a:ext cx="2540910" cy="4647697"/>
          </a:xfrm>
          <a:custGeom>
            <a:avLst/>
            <a:gdLst/>
            <a:ahLst/>
            <a:cxnLst/>
            <a:rect l="l" t="t" r="r" b="b"/>
            <a:pathLst>
              <a:path w="2540910" h="4647697">
                <a:moveTo>
                  <a:pt x="0" y="0"/>
                </a:moveTo>
                <a:lnTo>
                  <a:pt x="2540910" y="0"/>
                </a:lnTo>
                <a:lnTo>
                  <a:pt x="2540910" y="4647697"/>
                </a:lnTo>
                <a:lnTo>
                  <a:pt x="0" y="46476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389749"/>
            <a:ext cx="18212229" cy="1504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  <a:spcBef>
                <a:spcPct val="0"/>
              </a:spcBef>
            </a:pPr>
            <a:r>
              <a:rPr lang="en-US" sz="941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Functional Requirements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404524" y="2310986"/>
            <a:ext cx="9478951" cy="7498068"/>
            <a:chOff x="0" y="0"/>
            <a:chExt cx="2496514" cy="1974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96514" cy="1974800"/>
            </a:xfrm>
            <a:custGeom>
              <a:avLst/>
              <a:gdLst/>
              <a:ahLst/>
              <a:cxnLst/>
              <a:rect l="l" t="t" r="r" b="b"/>
              <a:pathLst>
                <a:path w="2496514" h="1974800">
                  <a:moveTo>
                    <a:pt x="52272" y="0"/>
                  </a:moveTo>
                  <a:lnTo>
                    <a:pt x="2444242" y="0"/>
                  </a:lnTo>
                  <a:cubicBezTo>
                    <a:pt x="2458105" y="0"/>
                    <a:pt x="2471401" y="5507"/>
                    <a:pt x="2481204" y="15310"/>
                  </a:cubicBezTo>
                  <a:cubicBezTo>
                    <a:pt x="2491007" y="25113"/>
                    <a:pt x="2496514" y="38409"/>
                    <a:pt x="2496514" y="52272"/>
                  </a:cubicBezTo>
                  <a:lnTo>
                    <a:pt x="2496514" y="1922528"/>
                  </a:lnTo>
                  <a:cubicBezTo>
                    <a:pt x="2496514" y="1951397"/>
                    <a:pt x="2473111" y="1974800"/>
                    <a:pt x="2444242" y="1974800"/>
                  </a:cubicBezTo>
                  <a:lnTo>
                    <a:pt x="52272" y="1974800"/>
                  </a:lnTo>
                  <a:cubicBezTo>
                    <a:pt x="23403" y="1974800"/>
                    <a:pt x="0" y="1951397"/>
                    <a:pt x="0" y="1922528"/>
                  </a:cubicBezTo>
                  <a:lnTo>
                    <a:pt x="0" y="52272"/>
                  </a:lnTo>
                  <a:cubicBezTo>
                    <a:pt x="0" y="23403"/>
                    <a:pt x="23403" y="0"/>
                    <a:pt x="52272" y="0"/>
                  </a:cubicBezTo>
                  <a:close/>
                </a:path>
              </a:pathLst>
            </a:custGeom>
            <a:solidFill>
              <a:srgbClr val="155C94"/>
            </a:solidFill>
            <a:ln w="38100" cap="rnd">
              <a:solidFill>
                <a:srgbClr val="155C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96514" cy="2012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935693" y="2823039"/>
            <a:ext cx="8416614" cy="6202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7226" lvl="1" indent="-363613" algn="l">
              <a:lnSpc>
                <a:spcPts val="5456"/>
              </a:lnSpc>
              <a:buFont typeface="Arial"/>
              <a:buChar char="•"/>
            </a:pPr>
            <a:r>
              <a:rPr lang="en-US" sz="3368" spc="53">
                <a:solidFill>
                  <a:srgbClr val="F6F0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Continuously measures oxygen levels and pulse.</a:t>
            </a:r>
          </a:p>
          <a:p>
            <a:pPr marL="727226" lvl="1" indent="-363613" algn="l">
              <a:lnSpc>
                <a:spcPts val="5456"/>
              </a:lnSpc>
              <a:buFont typeface="Arial"/>
              <a:buChar char="•"/>
            </a:pPr>
            <a:r>
              <a:rPr lang="en-US" sz="3368" spc="53">
                <a:solidFill>
                  <a:srgbClr val="F6F0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Transfers collected information to the server for analysis.</a:t>
            </a:r>
          </a:p>
          <a:p>
            <a:pPr marL="727226" lvl="1" indent="-363613" algn="l">
              <a:lnSpc>
                <a:spcPts val="5456"/>
              </a:lnSpc>
              <a:buFont typeface="Arial"/>
              <a:buChar char="•"/>
            </a:pPr>
            <a:r>
              <a:rPr lang="en-US" sz="3368" spc="53">
                <a:solidFill>
                  <a:srgbClr val="F6F0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emergencies and triggers immediate alerts when necessary.</a:t>
            </a:r>
          </a:p>
          <a:p>
            <a:pPr marL="727226" lvl="1" indent="-363613" algn="l">
              <a:lnSpc>
                <a:spcPts val="5456"/>
              </a:lnSpc>
              <a:buFont typeface="Arial"/>
              <a:buChar char="•"/>
            </a:pPr>
            <a:r>
              <a:rPr lang="en-US" sz="3368" spc="53">
                <a:solidFill>
                  <a:srgbClr val="F6F0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Sends real-time alerts to parents through the mobile application</a:t>
            </a:r>
          </a:p>
          <a:p>
            <a:pPr algn="l">
              <a:lnSpc>
                <a:spcPts val="5456"/>
              </a:lnSpc>
            </a:pPr>
            <a:endParaRPr lang="en-US" sz="3368" spc="53">
              <a:solidFill>
                <a:srgbClr val="F6F0D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610152" y="5388823"/>
            <a:ext cx="2677848" cy="4898177"/>
          </a:xfrm>
          <a:custGeom>
            <a:avLst/>
            <a:gdLst/>
            <a:ahLst/>
            <a:cxnLst/>
            <a:rect l="l" t="t" r="r" b="b"/>
            <a:pathLst>
              <a:path w="2677848" h="4898177">
                <a:moveTo>
                  <a:pt x="0" y="0"/>
                </a:moveTo>
                <a:lnTo>
                  <a:pt x="2677848" y="0"/>
                </a:lnTo>
                <a:lnTo>
                  <a:pt x="2677848" y="4898177"/>
                </a:lnTo>
                <a:lnTo>
                  <a:pt x="0" y="4898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-952929" y="1935645"/>
            <a:ext cx="18212229" cy="140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78"/>
              </a:lnSpc>
              <a:spcBef>
                <a:spcPct val="0"/>
              </a:spcBef>
            </a:pPr>
            <a:r>
              <a:rPr lang="en-US" sz="881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Non-Functional Requirements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03208" y="3992292"/>
            <a:ext cx="15306943" cy="2478329"/>
            <a:chOff x="0" y="0"/>
            <a:chExt cx="4031458" cy="6527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31458" cy="652729"/>
            </a:xfrm>
            <a:custGeom>
              <a:avLst/>
              <a:gdLst/>
              <a:ahLst/>
              <a:cxnLst/>
              <a:rect l="l" t="t" r="r" b="b"/>
              <a:pathLst>
                <a:path w="4031458" h="652729">
                  <a:moveTo>
                    <a:pt x="32370" y="0"/>
                  </a:moveTo>
                  <a:lnTo>
                    <a:pt x="3999088" y="0"/>
                  </a:lnTo>
                  <a:cubicBezTo>
                    <a:pt x="4007673" y="0"/>
                    <a:pt x="4015907" y="3410"/>
                    <a:pt x="4021977" y="9481"/>
                  </a:cubicBezTo>
                  <a:cubicBezTo>
                    <a:pt x="4028048" y="15551"/>
                    <a:pt x="4031458" y="23785"/>
                    <a:pt x="4031458" y="32370"/>
                  </a:cubicBezTo>
                  <a:lnTo>
                    <a:pt x="4031458" y="620359"/>
                  </a:lnTo>
                  <a:cubicBezTo>
                    <a:pt x="4031458" y="638236"/>
                    <a:pt x="4016966" y="652729"/>
                    <a:pt x="3999088" y="652729"/>
                  </a:cubicBezTo>
                  <a:lnTo>
                    <a:pt x="32370" y="652729"/>
                  </a:lnTo>
                  <a:cubicBezTo>
                    <a:pt x="23785" y="652729"/>
                    <a:pt x="15551" y="649318"/>
                    <a:pt x="9481" y="643248"/>
                  </a:cubicBezTo>
                  <a:cubicBezTo>
                    <a:pt x="3410" y="637177"/>
                    <a:pt x="0" y="628944"/>
                    <a:pt x="0" y="620359"/>
                  </a:cubicBezTo>
                  <a:lnTo>
                    <a:pt x="0" y="32370"/>
                  </a:lnTo>
                  <a:cubicBezTo>
                    <a:pt x="0" y="23785"/>
                    <a:pt x="3410" y="15551"/>
                    <a:pt x="9481" y="9481"/>
                  </a:cubicBezTo>
                  <a:cubicBezTo>
                    <a:pt x="15551" y="3410"/>
                    <a:pt x="23785" y="0"/>
                    <a:pt x="32370" y="0"/>
                  </a:cubicBezTo>
                  <a:close/>
                </a:path>
              </a:pathLst>
            </a:custGeom>
            <a:solidFill>
              <a:srgbClr val="155C94"/>
            </a:solidFill>
            <a:ln w="38100" cap="rnd">
              <a:solidFill>
                <a:srgbClr val="155C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31458" cy="690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3208" y="4095523"/>
            <a:ext cx="5191848" cy="2306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5"/>
              </a:lnSpc>
              <a:spcBef>
                <a:spcPct val="0"/>
              </a:spcBef>
            </a:pPr>
            <a:r>
              <a:rPr lang="en-US" sz="3299" spc="52">
                <a:solidFill>
                  <a:srgbClr val="F6F0DD"/>
                </a:solidFill>
                <a:latin typeface="Gagalin"/>
                <a:ea typeface="Gagalin"/>
                <a:cs typeface="Gagalin"/>
                <a:sym typeface="Gagalin"/>
              </a:rPr>
              <a:t>Usability</a:t>
            </a:r>
          </a:p>
          <a:p>
            <a:pPr algn="ctr">
              <a:lnSpc>
                <a:spcPts val="4373"/>
              </a:lnSpc>
              <a:spcBef>
                <a:spcPct val="0"/>
              </a:spcBef>
            </a:pPr>
            <a:r>
              <a:rPr lang="en-US" sz="2699" spc="43">
                <a:solidFill>
                  <a:srgbClr val="F6F0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interface for non-technical parents.</a:t>
            </a:r>
          </a:p>
          <a:p>
            <a:pPr algn="ctr">
              <a:lnSpc>
                <a:spcPts val="4373"/>
              </a:lnSpc>
              <a:spcBef>
                <a:spcPct val="0"/>
              </a:spcBef>
            </a:pPr>
            <a:endParaRPr lang="en-US" sz="2699" spc="43">
              <a:solidFill>
                <a:srgbClr val="F6F0D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418303" y="4095524"/>
            <a:ext cx="5191848" cy="285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5"/>
              </a:lnSpc>
              <a:spcBef>
                <a:spcPct val="0"/>
              </a:spcBef>
            </a:pPr>
            <a:r>
              <a:rPr lang="en-US" sz="3299" spc="52">
                <a:solidFill>
                  <a:srgbClr val="F6F0DD"/>
                </a:solidFill>
                <a:latin typeface="Gagalin"/>
                <a:ea typeface="Gagalin"/>
                <a:cs typeface="Gagalin"/>
                <a:sym typeface="Gagalin"/>
              </a:rPr>
              <a:t>Scalability</a:t>
            </a:r>
          </a:p>
          <a:p>
            <a:pPr algn="ctr">
              <a:lnSpc>
                <a:spcPts val="4374"/>
              </a:lnSpc>
              <a:spcBef>
                <a:spcPct val="0"/>
              </a:spcBef>
            </a:pPr>
            <a:r>
              <a:rPr lang="en-US" sz="2700" spc="43">
                <a:solidFill>
                  <a:srgbClr val="F6F0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multiple users and devices without performance degradation.</a:t>
            </a:r>
          </a:p>
          <a:p>
            <a:pPr algn="ctr">
              <a:lnSpc>
                <a:spcPts val="4374"/>
              </a:lnSpc>
              <a:spcBef>
                <a:spcPct val="0"/>
              </a:spcBef>
            </a:pPr>
            <a:endParaRPr lang="en-US" sz="2700" spc="43">
              <a:solidFill>
                <a:srgbClr val="F6F0D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673519" y="4095524"/>
            <a:ext cx="4744784" cy="2306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45"/>
              </a:lnSpc>
              <a:spcBef>
                <a:spcPct val="0"/>
              </a:spcBef>
            </a:pPr>
            <a:r>
              <a:rPr lang="en-US" sz="3299" spc="52" dirty="0">
                <a:solidFill>
                  <a:srgbClr val="F6F0DD"/>
                </a:solidFill>
                <a:latin typeface="Gagalin"/>
                <a:ea typeface="Gagalin"/>
                <a:cs typeface="Gagalin"/>
                <a:sym typeface="Gagalin"/>
              </a:rPr>
              <a:t>Performance</a:t>
            </a:r>
          </a:p>
          <a:p>
            <a:pPr algn="ctr">
              <a:lnSpc>
                <a:spcPts val="4374"/>
              </a:lnSpc>
              <a:spcBef>
                <a:spcPct val="0"/>
              </a:spcBef>
            </a:pPr>
            <a:r>
              <a:rPr lang="en-US" sz="2700" spc="43" dirty="0">
                <a:solidFill>
                  <a:srgbClr val="F6F0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data processing to ensure immediate alerts.</a:t>
            </a:r>
          </a:p>
          <a:p>
            <a:pPr algn="ctr">
              <a:lnSpc>
                <a:spcPts val="4374"/>
              </a:lnSpc>
              <a:spcBef>
                <a:spcPct val="0"/>
              </a:spcBef>
            </a:pPr>
            <a:endParaRPr lang="en-US" sz="2700" spc="43" dirty="0">
              <a:solidFill>
                <a:srgbClr val="F6F0D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303208" y="7001039"/>
            <a:ext cx="15306943" cy="2478329"/>
            <a:chOff x="0" y="0"/>
            <a:chExt cx="4031458" cy="6527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31458" cy="652729"/>
            </a:xfrm>
            <a:custGeom>
              <a:avLst/>
              <a:gdLst/>
              <a:ahLst/>
              <a:cxnLst/>
              <a:rect l="l" t="t" r="r" b="b"/>
              <a:pathLst>
                <a:path w="4031458" h="652729">
                  <a:moveTo>
                    <a:pt x="32370" y="0"/>
                  </a:moveTo>
                  <a:lnTo>
                    <a:pt x="3999088" y="0"/>
                  </a:lnTo>
                  <a:cubicBezTo>
                    <a:pt x="4007673" y="0"/>
                    <a:pt x="4015907" y="3410"/>
                    <a:pt x="4021977" y="9481"/>
                  </a:cubicBezTo>
                  <a:cubicBezTo>
                    <a:pt x="4028048" y="15551"/>
                    <a:pt x="4031458" y="23785"/>
                    <a:pt x="4031458" y="32370"/>
                  </a:cubicBezTo>
                  <a:lnTo>
                    <a:pt x="4031458" y="620359"/>
                  </a:lnTo>
                  <a:cubicBezTo>
                    <a:pt x="4031458" y="638236"/>
                    <a:pt x="4016966" y="652729"/>
                    <a:pt x="3999088" y="652729"/>
                  </a:cubicBezTo>
                  <a:lnTo>
                    <a:pt x="32370" y="652729"/>
                  </a:lnTo>
                  <a:cubicBezTo>
                    <a:pt x="23785" y="652729"/>
                    <a:pt x="15551" y="649318"/>
                    <a:pt x="9481" y="643248"/>
                  </a:cubicBezTo>
                  <a:cubicBezTo>
                    <a:pt x="3410" y="637177"/>
                    <a:pt x="0" y="628944"/>
                    <a:pt x="0" y="620359"/>
                  </a:cubicBezTo>
                  <a:lnTo>
                    <a:pt x="0" y="32370"/>
                  </a:lnTo>
                  <a:cubicBezTo>
                    <a:pt x="0" y="23785"/>
                    <a:pt x="3410" y="15551"/>
                    <a:pt x="9481" y="9481"/>
                  </a:cubicBezTo>
                  <a:cubicBezTo>
                    <a:pt x="15551" y="3410"/>
                    <a:pt x="23785" y="0"/>
                    <a:pt x="32370" y="0"/>
                  </a:cubicBezTo>
                  <a:close/>
                </a:path>
              </a:pathLst>
            </a:custGeom>
            <a:solidFill>
              <a:srgbClr val="155C94"/>
            </a:solidFill>
            <a:ln w="38100" cap="rnd">
              <a:solidFill>
                <a:srgbClr val="155C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031458" cy="690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1671" y="7104271"/>
            <a:ext cx="5191848" cy="2306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5"/>
              </a:lnSpc>
              <a:spcBef>
                <a:spcPct val="0"/>
              </a:spcBef>
            </a:pPr>
            <a:r>
              <a:rPr lang="en-US" sz="3299" spc="52">
                <a:solidFill>
                  <a:srgbClr val="F6F0DD"/>
                </a:solidFill>
                <a:latin typeface="Gagalin"/>
                <a:ea typeface="Gagalin"/>
                <a:cs typeface="Gagalin"/>
                <a:sym typeface="Gagalin"/>
              </a:rPr>
              <a:t>Reliability</a:t>
            </a:r>
          </a:p>
          <a:p>
            <a:pPr algn="ctr">
              <a:lnSpc>
                <a:spcPts val="4373"/>
              </a:lnSpc>
              <a:spcBef>
                <a:spcPct val="0"/>
              </a:spcBef>
            </a:pPr>
            <a:r>
              <a:rPr lang="en-US" sz="2699" spc="43">
                <a:solidFill>
                  <a:srgbClr val="F6F0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monitoring with reduced false alarms.</a:t>
            </a:r>
          </a:p>
          <a:p>
            <a:pPr algn="ctr">
              <a:lnSpc>
                <a:spcPts val="4373"/>
              </a:lnSpc>
              <a:spcBef>
                <a:spcPct val="0"/>
              </a:spcBef>
            </a:pPr>
            <a:endParaRPr lang="en-US" sz="2699" spc="43">
              <a:solidFill>
                <a:srgbClr val="F6F0D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418303" y="7104271"/>
            <a:ext cx="5191848" cy="230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5"/>
              </a:lnSpc>
              <a:spcBef>
                <a:spcPct val="0"/>
              </a:spcBef>
            </a:pPr>
            <a:r>
              <a:rPr lang="en-US" sz="3299" spc="52">
                <a:solidFill>
                  <a:srgbClr val="F6F0DD"/>
                </a:solidFill>
                <a:latin typeface="Gagalin"/>
                <a:ea typeface="Gagalin"/>
                <a:cs typeface="Gagalin"/>
                <a:sym typeface="Gagalin"/>
              </a:rPr>
              <a:t>Wearability</a:t>
            </a:r>
          </a:p>
          <a:p>
            <a:pPr algn="ctr">
              <a:lnSpc>
                <a:spcPts val="4374"/>
              </a:lnSpc>
              <a:spcBef>
                <a:spcPct val="0"/>
              </a:spcBef>
            </a:pPr>
            <a:r>
              <a:rPr lang="en-US" sz="2700" spc="43">
                <a:solidFill>
                  <a:srgbClr val="F6F0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and comfortable wristband for extended wear.</a:t>
            </a:r>
          </a:p>
          <a:p>
            <a:pPr algn="ctr">
              <a:lnSpc>
                <a:spcPts val="4374"/>
              </a:lnSpc>
              <a:spcBef>
                <a:spcPct val="0"/>
              </a:spcBef>
            </a:pPr>
            <a:endParaRPr lang="en-US" sz="2700" spc="43">
              <a:solidFill>
                <a:srgbClr val="F6F0D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673519" y="7104271"/>
            <a:ext cx="4945002" cy="230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5"/>
              </a:lnSpc>
              <a:spcBef>
                <a:spcPct val="0"/>
              </a:spcBef>
            </a:pPr>
            <a:r>
              <a:rPr lang="en-US" sz="3299" spc="52">
                <a:solidFill>
                  <a:srgbClr val="F6F0DD"/>
                </a:solidFill>
                <a:latin typeface="Gagalin"/>
                <a:ea typeface="Gagalin"/>
                <a:cs typeface="Gagalin"/>
                <a:sym typeface="Gagalin"/>
              </a:rPr>
              <a:t>Security</a:t>
            </a:r>
          </a:p>
          <a:p>
            <a:pPr algn="ctr">
              <a:lnSpc>
                <a:spcPts val="4374"/>
              </a:lnSpc>
              <a:spcBef>
                <a:spcPct val="0"/>
              </a:spcBef>
            </a:pPr>
            <a:r>
              <a:rPr lang="en-US" sz="2700" spc="43">
                <a:solidFill>
                  <a:srgbClr val="F6F0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 of health data to protect privacy.</a:t>
            </a:r>
          </a:p>
          <a:p>
            <a:pPr algn="ctr">
              <a:lnSpc>
                <a:spcPts val="4374"/>
              </a:lnSpc>
              <a:spcBef>
                <a:spcPct val="0"/>
              </a:spcBef>
            </a:pPr>
            <a:endParaRPr lang="en-US" sz="2700" spc="43">
              <a:solidFill>
                <a:srgbClr val="F6F0D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680142" y="7345992"/>
            <a:ext cx="1607858" cy="2941008"/>
          </a:xfrm>
          <a:custGeom>
            <a:avLst/>
            <a:gdLst/>
            <a:ahLst/>
            <a:cxnLst/>
            <a:rect l="l" t="t" r="r" b="b"/>
            <a:pathLst>
              <a:path w="1607858" h="2941008">
                <a:moveTo>
                  <a:pt x="0" y="0"/>
                </a:moveTo>
                <a:lnTo>
                  <a:pt x="1607858" y="0"/>
                </a:lnTo>
                <a:lnTo>
                  <a:pt x="1607858" y="2941008"/>
                </a:lnTo>
                <a:lnTo>
                  <a:pt x="0" y="2941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354107" y="2037494"/>
            <a:ext cx="7218209" cy="7748491"/>
            <a:chOff x="0" y="0"/>
            <a:chExt cx="9624279" cy="103313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61918" cy="2494031"/>
            </a:xfrm>
            <a:custGeom>
              <a:avLst/>
              <a:gdLst/>
              <a:ahLst/>
              <a:cxnLst/>
              <a:rect l="l" t="t" r="r" b="b"/>
              <a:pathLst>
                <a:path w="1561918" h="2494031">
                  <a:moveTo>
                    <a:pt x="0" y="0"/>
                  </a:moveTo>
                  <a:lnTo>
                    <a:pt x="1561918" y="0"/>
                  </a:lnTo>
                  <a:lnTo>
                    <a:pt x="1561918" y="2494031"/>
                  </a:lnTo>
                  <a:lnTo>
                    <a:pt x="0" y="2494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5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30168" y="264023"/>
              <a:ext cx="7494112" cy="3259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155C94"/>
                  </a:solidFill>
                  <a:latin typeface="Gagalin"/>
                  <a:ea typeface="Gagalin"/>
                  <a:cs typeface="Gagalin"/>
                  <a:sym typeface="Gagalin"/>
                </a:rPr>
                <a:t>Child Wristband </a:t>
              </a:r>
            </a:p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155C9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Measures oxygen levels and heart rate.</a:t>
              </a:r>
            </a:p>
            <a:p>
              <a:pPr algn="r" rtl="1">
                <a:lnSpc>
                  <a:spcPts val="4900"/>
                </a:lnSpc>
              </a:pPr>
              <a:endParaRPr lang="en-US" sz="350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3264610"/>
              <a:ext cx="1530586" cy="2452229"/>
            </a:xfrm>
            <a:custGeom>
              <a:avLst/>
              <a:gdLst/>
              <a:ahLst/>
              <a:cxnLst/>
              <a:rect l="l" t="t" r="r" b="b"/>
              <a:pathLst>
                <a:path w="1530586" h="2452229">
                  <a:moveTo>
                    <a:pt x="0" y="0"/>
                  </a:moveTo>
                  <a:lnTo>
                    <a:pt x="1530586" y="0"/>
                  </a:lnTo>
                  <a:lnTo>
                    <a:pt x="1530586" y="2452229"/>
                  </a:lnTo>
                  <a:lnTo>
                    <a:pt x="0" y="2452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8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74812"/>
              <a:ext cx="1532395" cy="2455128"/>
            </a:xfrm>
            <a:custGeom>
              <a:avLst/>
              <a:gdLst/>
              <a:ahLst/>
              <a:cxnLst/>
              <a:rect l="l" t="t" r="r" b="b"/>
              <a:pathLst>
                <a:path w="1532395" h="2455128">
                  <a:moveTo>
                    <a:pt x="0" y="0"/>
                  </a:moveTo>
                  <a:lnTo>
                    <a:pt x="1532395" y="0"/>
                  </a:lnTo>
                  <a:lnTo>
                    <a:pt x="1532395" y="2455127"/>
                  </a:lnTo>
                  <a:lnTo>
                    <a:pt x="0" y="2455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8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50087" y="3258267"/>
              <a:ext cx="7494112" cy="3259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155C94"/>
                  </a:solidFill>
                  <a:latin typeface="Gagalin"/>
                  <a:ea typeface="Gagalin"/>
                  <a:cs typeface="Gagalin"/>
                  <a:sym typeface="Gagalin"/>
                </a:rPr>
                <a:t>Cloud Server</a:t>
              </a:r>
            </a:p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155C9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Processes and analyzes data to detect emergencies.</a:t>
              </a:r>
            </a:p>
            <a:p>
              <a:pPr algn="r" rtl="1">
                <a:lnSpc>
                  <a:spcPts val="4900"/>
                </a:lnSpc>
              </a:pPr>
              <a:endParaRPr lang="en-US" sz="350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50087" y="7071654"/>
              <a:ext cx="7494112" cy="3259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155C94"/>
                  </a:solidFill>
                  <a:latin typeface="Gagalin"/>
                  <a:ea typeface="Gagalin"/>
                  <a:cs typeface="Gagalin"/>
                  <a:sym typeface="Gagalin"/>
                </a:rPr>
                <a:t>Parent's App</a:t>
              </a:r>
            </a:p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155C9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Displays real-time data and alerts.</a:t>
              </a:r>
            </a:p>
            <a:p>
              <a:pPr algn="r" rtl="1">
                <a:lnSpc>
                  <a:spcPts val="4900"/>
                </a:lnSpc>
              </a:pPr>
              <a:endParaRPr lang="en-US" sz="350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022365" y="2509760"/>
            <a:ext cx="11803875" cy="5267479"/>
          </a:xfrm>
          <a:custGeom>
            <a:avLst/>
            <a:gdLst/>
            <a:ahLst/>
            <a:cxnLst/>
            <a:rect l="l" t="t" r="r" b="b"/>
            <a:pathLst>
              <a:path w="11803875" h="5267479">
                <a:moveTo>
                  <a:pt x="0" y="0"/>
                </a:moveTo>
                <a:lnTo>
                  <a:pt x="11803875" y="0"/>
                </a:lnTo>
                <a:lnTo>
                  <a:pt x="11803875" y="5267480"/>
                </a:lnTo>
                <a:lnTo>
                  <a:pt x="0" y="52674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-517731" y="693142"/>
            <a:ext cx="8961885" cy="97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1"/>
              </a:lnSpc>
              <a:spcBef>
                <a:spcPct val="0"/>
              </a:spcBef>
            </a:pPr>
            <a:r>
              <a:rPr lang="en-US" sz="6063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System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0" y="5990765"/>
            <a:ext cx="2348765" cy="4296235"/>
          </a:xfrm>
          <a:custGeom>
            <a:avLst/>
            <a:gdLst/>
            <a:ahLst/>
            <a:cxnLst/>
            <a:rect l="l" t="t" r="r" b="b"/>
            <a:pathLst>
              <a:path w="2348765" h="4296235">
                <a:moveTo>
                  <a:pt x="2348765" y="0"/>
                </a:moveTo>
                <a:lnTo>
                  <a:pt x="0" y="0"/>
                </a:lnTo>
                <a:lnTo>
                  <a:pt x="0" y="4296235"/>
                </a:lnTo>
                <a:lnTo>
                  <a:pt x="2348765" y="4296235"/>
                </a:lnTo>
                <a:lnTo>
                  <a:pt x="2348765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579021" y="1879546"/>
            <a:ext cx="10283853" cy="7378754"/>
          </a:xfrm>
          <a:custGeom>
            <a:avLst/>
            <a:gdLst/>
            <a:ahLst/>
            <a:cxnLst/>
            <a:rect l="l" t="t" r="r" b="b"/>
            <a:pathLst>
              <a:path w="10283853" h="7378754">
                <a:moveTo>
                  <a:pt x="0" y="0"/>
                </a:moveTo>
                <a:lnTo>
                  <a:pt x="10283853" y="0"/>
                </a:lnTo>
                <a:lnTo>
                  <a:pt x="10283853" y="7378754"/>
                </a:lnTo>
                <a:lnTo>
                  <a:pt x="0" y="7378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12" r="-17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0" y="4041966"/>
            <a:ext cx="7728777" cy="1101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4"/>
              </a:lnSpc>
              <a:spcBef>
                <a:spcPct val="0"/>
              </a:spcBef>
            </a:pPr>
            <a:r>
              <a:rPr lang="en-US" sz="6893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Use Case Diagram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0" y="4051491"/>
            <a:ext cx="8719219" cy="2151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8"/>
              </a:lnSpc>
              <a:spcBef>
                <a:spcPct val="0"/>
              </a:spcBef>
            </a:pPr>
            <a:r>
              <a:rPr lang="en-US" sz="6693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Entity Relationship Diagrams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0" y="5990765"/>
            <a:ext cx="2348765" cy="4296235"/>
          </a:xfrm>
          <a:custGeom>
            <a:avLst/>
            <a:gdLst/>
            <a:ahLst/>
            <a:cxnLst/>
            <a:rect l="l" t="t" r="r" b="b"/>
            <a:pathLst>
              <a:path w="2348765" h="4296235">
                <a:moveTo>
                  <a:pt x="2348765" y="0"/>
                </a:moveTo>
                <a:lnTo>
                  <a:pt x="0" y="0"/>
                </a:lnTo>
                <a:lnTo>
                  <a:pt x="0" y="4296235"/>
                </a:lnTo>
                <a:lnTo>
                  <a:pt x="2348765" y="4296235"/>
                </a:lnTo>
                <a:lnTo>
                  <a:pt x="2348765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054568" y="678748"/>
            <a:ext cx="5634990" cy="8944428"/>
          </a:xfrm>
          <a:custGeom>
            <a:avLst/>
            <a:gdLst/>
            <a:ahLst/>
            <a:cxnLst/>
            <a:rect l="l" t="t" r="r" b="b"/>
            <a:pathLst>
              <a:path w="5634990" h="8944428">
                <a:moveTo>
                  <a:pt x="0" y="0"/>
                </a:moveTo>
                <a:lnTo>
                  <a:pt x="5634990" y="0"/>
                </a:lnTo>
                <a:lnTo>
                  <a:pt x="5634990" y="8944428"/>
                </a:lnTo>
                <a:lnTo>
                  <a:pt x="0" y="89444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0" y="5990765"/>
            <a:ext cx="2348765" cy="4296235"/>
          </a:xfrm>
          <a:custGeom>
            <a:avLst/>
            <a:gdLst/>
            <a:ahLst/>
            <a:cxnLst/>
            <a:rect l="l" t="t" r="r" b="b"/>
            <a:pathLst>
              <a:path w="2348765" h="4296235">
                <a:moveTo>
                  <a:pt x="2348765" y="0"/>
                </a:moveTo>
                <a:lnTo>
                  <a:pt x="0" y="0"/>
                </a:lnTo>
                <a:lnTo>
                  <a:pt x="0" y="4296235"/>
                </a:lnTo>
                <a:lnTo>
                  <a:pt x="2348765" y="4296235"/>
                </a:lnTo>
                <a:lnTo>
                  <a:pt x="2348765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474612" y="1028700"/>
            <a:ext cx="8784688" cy="8411339"/>
          </a:xfrm>
          <a:custGeom>
            <a:avLst/>
            <a:gdLst/>
            <a:ahLst/>
            <a:cxnLst/>
            <a:rect l="l" t="t" r="r" b="b"/>
            <a:pathLst>
              <a:path w="8784688" h="8411339">
                <a:moveTo>
                  <a:pt x="0" y="0"/>
                </a:moveTo>
                <a:lnTo>
                  <a:pt x="8784688" y="0"/>
                </a:lnTo>
                <a:lnTo>
                  <a:pt x="8784688" y="8411339"/>
                </a:lnTo>
                <a:lnTo>
                  <a:pt x="0" y="8411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0" y="4041966"/>
            <a:ext cx="7728777" cy="1101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4"/>
              </a:lnSpc>
              <a:spcBef>
                <a:spcPct val="0"/>
              </a:spcBef>
            </a:pPr>
            <a:r>
              <a:rPr lang="en-US" sz="6893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activity Diagram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0" y="5990765"/>
            <a:ext cx="2348765" cy="4296235"/>
          </a:xfrm>
          <a:custGeom>
            <a:avLst/>
            <a:gdLst/>
            <a:ahLst/>
            <a:cxnLst/>
            <a:rect l="l" t="t" r="r" b="b"/>
            <a:pathLst>
              <a:path w="2348765" h="4296235">
                <a:moveTo>
                  <a:pt x="2348765" y="0"/>
                </a:moveTo>
                <a:lnTo>
                  <a:pt x="0" y="0"/>
                </a:lnTo>
                <a:lnTo>
                  <a:pt x="0" y="4296235"/>
                </a:lnTo>
                <a:lnTo>
                  <a:pt x="2348765" y="4296235"/>
                </a:lnTo>
                <a:lnTo>
                  <a:pt x="2348765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574915" y="2709238"/>
            <a:ext cx="5282364" cy="2972989"/>
          </a:xfrm>
          <a:custGeom>
            <a:avLst/>
            <a:gdLst/>
            <a:ahLst/>
            <a:cxnLst/>
            <a:rect l="l" t="t" r="r" b="b"/>
            <a:pathLst>
              <a:path w="5282364" h="2972989">
                <a:moveTo>
                  <a:pt x="0" y="0"/>
                </a:moveTo>
                <a:lnTo>
                  <a:pt x="5282364" y="0"/>
                </a:lnTo>
                <a:lnTo>
                  <a:pt x="5282364" y="2972989"/>
                </a:lnTo>
                <a:lnTo>
                  <a:pt x="0" y="2972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698066" y="3025385"/>
            <a:ext cx="3755514" cy="2340695"/>
          </a:xfrm>
          <a:custGeom>
            <a:avLst/>
            <a:gdLst/>
            <a:ahLst/>
            <a:cxnLst/>
            <a:rect l="l" t="t" r="r" b="b"/>
            <a:pathLst>
              <a:path w="3755514" h="2340695">
                <a:moveTo>
                  <a:pt x="0" y="0"/>
                </a:moveTo>
                <a:lnTo>
                  <a:pt x="3755515" y="0"/>
                </a:lnTo>
                <a:lnTo>
                  <a:pt x="3755515" y="2340695"/>
                </a:lnTo>
                <a:lnTo>
                  <a:pt x="0" y="2340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178440" y="5990765"/>
            <a:ext cx="5268354" cy="3074190"/>
          </a:xfrm>
          <a:custGeom>
            <a:avLst/>
            <a:gdLst/>
            <a:ahLst/>
            <a:cxnLst/>
            <a:rect l="l" t="t" r="r" b="b"/>
            <a:pathLst>
              <a:path w="5268354" h="3074190">
                <a:moveTo>
                  <a:pt x="0" y="0"/>
                </a:moveTo>
                <a:lnTo>
                  <a:pt x="5268354" y="0"/>
                </a:lnTo>
                <a:lnTo>
                  <a:pt x="5268354" y="3074190"/>
                </a:lnTo>
                <a:lnTo>
                  <a:pt x="0" y="307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86" b="-208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74382" y="1183191"/>
            <a:ext cx="10272411" cy="1101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4"/>
              </a:lnSpc>
              <a:spcBef>
                <a:spcPct val="0"/>
              </a:spcBef>
            </a:pPr>
            <a:r>
              <a:rPr lang="en-US" sz="6893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Hardware Components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75272" y="5098590"/>
            <a:ext cx="6451282" cy="630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ESP32-C6 MICROCONTROLLER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79149" y="9055430"/>
            <a:ext cx="5453777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Mlx90614 Temperature Sensor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65065" y="5318300"/>
            <a:ext cx="6421516" cy="121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Max30102 Heart Rate and Oximeter Sensor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464470" y="2910068"/>
            <a:ext cx="4032991" cy="7376932"/>
          </a:xfrm>
          <a:custGeom>
            <a:avLst/>
            <a:gdLst/>
            <a:ahLst/>
            <a:cxnLst/>
            <a:rect l="l" t="t" r="r" b="b"/>
            <a:pathLst>
              <a:path w="4032991" h="7376932">
                <a:moveTo>
                  <a:pt x="4032991" y="0"/>
                </a:moveTo>
                <a:lnTo>
                  <a:pt x="0" y="0"/>
                </a:lnTo>
                <a:lnTo>
                  <a:pt x="0" y="7376932"/>
                </a:lnTo>
                <a:lnTo>
                  <a:pt x="4032991" y="7376932"/>
                </a:lnTo>
                <a:lnTo>
                  <a:pt x="4032991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812845" y="3625576"/>
            <a:ext cx="5446455" cy="5235151"/>
          </a:xfrm>
          <a:custGeom>
            <a:avLst/>
            <a:gdLst/>
            <a:ahLst/>
            <a:cxnLst/>
            <a:rect l="l" t="t" r="r" b="b"/>
            <a:pathLst>
              <a:path w="5446455" h="5235151">
                <a:moveTo>
                  <a:pt x="0" y="0"/>
                </a:moveTo>
                <a:lnTo>
                  <a:pt x="5446455" y="0"/>
                </a:lnTo>
                <a:lnTo>
                  <a:pt x="5446455" y="5235151"/>
                </a:lnTo>
                <a:lnTo>
                  <a:pt x="0" y="5235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357" b="-193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012158" y="4568076"/>
            <a:ext cx="3350257" cy="4060917"/>
          </a:xfrm>
          <a:custGeom>
            <a:avLst/>
            <a:gdLst/>
            <a:ahLst/>
            <a:cxnLst/>
            <a:rect l="l" t="t" r="r" b="b"/>
            <a:pathLst>
              <a:path w="3350257" h="4060917">
                <a:moveTo>
                  <a:pt x="0" y="0"/>
                </a:moveTo>
                <a:lnTo>
                  <a:pt x="3350257" y="0"/>
                </a:lnTo>
                <a:lnTo>
                  <a:pt x="3350257" y="4060917"/>
                </a:lnTo>
                <a:lnTo>
                  <a:pt x="0" y="4060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222620"/>
            <a:ext cx="10041085" cy="1504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  <a:spcBef>
                <a:spcPct val="0"/>
              </a:spcBef>
            </a:pPr>
            <a:r>
              <a:rPr lang="en-US" sz="941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Bracelet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464470" y="2910068"/>
            <a:ext cx="4032991" cy="7376932"/>
          </a:xfrm>
          <a:custGeom>
            <a:avLst/>
            <a:gdLst/>
            <a:ahLst/>
            <a:cxnLst/>
            <a:rect l="l" t="t" r="r" b="b"/>
            <a:pathLst>
              <a:path w="4032991" h="7376932">
                <a:moveTo>
                  <a:pt x="4032991" y="0"/>
                </a:moveTo>
                <a:lnTo>
                  <a:pt x="0" y="0"/>
                </a:lnTo>
                <a:lnTo>
                  <a:pt x="0" y="7376932"/>
                </a:lnTo>
                <a:lnTo>
                  <a:pt x="4032991" y="7376932"/>
                </a:lnTo>
                <a:lnTo>
                  <a:pt x="4032991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3358578" y="2400682"/>
            <a:ext cx="3465768" cy="6857618"/>
            <a:chOff x="0" y="0"/>
            <a:chExt cx="2620010" cy="5184140"/>
          </a:xfrm>
        </p:grpSpPr>
        <p:sp>
          <p:nvSpPr>
            <p:cNvPr id="5" name="Freeform 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4582" r="-458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3983A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55C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8548693" y="2400682"/>
            <a:ext cx="3465768" cy="6857618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4717" r="-47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3983A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55C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28700" y="1222620"/>
            <a:ext cx="7204820" cy="1504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  <a:spcBef>
                <a:spcPct val="0"/>
              </a:spcBef>
            </a:pPr>
            <a:r>
              <a:rPr lang="en-US" sz="941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interfaces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464470" y="2910068"/>
            <a:ext cx="4032991" cy="7376932"/>
          </a:xfrm>
          <a:custGeom>
            <a:avLst/>
            <a:gdLst/>
            <a:ahLst/>
            <a:cxnLst/>
            <a:rect l="l" t="t" r="r" b="b"/>
            <a:pathLst>
              <a:path w="4032991" h="7376932">
                <a:moveTo>
                  <a:pt x="4032991" y="0"/>
                </a:moveTo>
                <a:lnTo>
                  <a:pt x="0" y="0"/>
                </a:lnTo>
                <a:lnTo>
                  <a:pt x="0" y="7376932"/>
                </a:lnTo>
                <a:lnTo>
                  <a:pt x="4032991" y="7376932"/>
                </a:lnTo>
                <a:lnTo>
                  <a:pt x="4032991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3358578" y="2400682"/>
            <a:ext cx="3465768" cy="6857618"/>
            <a:chOff x="0" y="0"/>
            <a:chExt cx="2620010" cy="5184140"/>
          </a:xfrm>
        </p:grpSpPr>
        <p:sp>
          <p:nvSpPr>
            <p:cNvPr id="5" name="Freeform 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4988" r="-498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3983A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55C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8548693" y="2400682"/>
            <a:ext cx="3465768" cy="6857618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5597" r="-30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3983A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55C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28700" y="1222620"/>
            <a:ext cx="7204820" cy="1504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  <a:spcBef>
                <a:spcPct val="0"/>
              </a:spcBef>
            </a:pPr>
            <a:r>
              <a:rPr lang="en-US" sz="941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interfaces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464470" y="2910068"/>
            <a:ext cx="4032991" cy="7376932"/>
          </a:xfrm>
          <a:custGeom>
            <a:avLst/>
            <a:gdLst/>
            <a:ahLst/>
            <a:cxnLst/>
            <a:rect l="l" t="t" r="r" b="b"/>
            <a:pathLst>
              <a:path w="4032991" h="7376932">
                <a:moveTo>
                  <a:pt x="4032991" y="0"/>
                </a:moveTo>
                <a:lnTo>
                  <a:pt x="0" y="0"/>
                </a:lnTo>
                <a:lnTo>
                  <a:pt x="0" y="7376932"/>
                </a:lnTo>
                <a:lnTo>
                  <a:pt x="4032991" y="7376932"/>
                </a:lnTo>
                <a:lnTo>
                  <a:pt x="4032991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960870" y="2310390"/>
            <a:ext cx="3511401" cy="6947910"/>
            <a:chOff x="0" y="0"/>
            <a:chExt cx="2620010" cy="5184140"/>
          </a:xfrm>
        </p:grpSpPr>
        <p:sp>
          <p:nvSpPr>
            <p:cNvPr id="5" name="Freeform 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4717" r="-47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196171" y="2310390"/>
            <a:ext cx="3511401" cy="6947910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4311" r="-43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28700" y="1222620"/>
            <a:ext cx="7204820" cy="1504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  <a:spcBef>
                <a:spcPct val="0"/>
              </a:spcBef>
            </a:pPr>
            <a:r>
              <a:rPr lang="en-US" sz="941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interfaces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464470" y="2910068"/>
            <a:ext cx="4032991" cy="7376932"/>
          </a:xfrm>
          <a:custGeom>
            <a:avLst/>
            <a:gdLst/>
            <a:ahLst/>
            <a:cxnLst/>
            <a:rect l="l" t="t" r="r" b="b"/>
            <a:pathLst>
              <a:path w="4032991" h="7376932">
                <a:moveTo>
                  <a:pt x="4032991" y="0"/>
                </a:moveTo>
                <a:lnTo>
                  <a:pt x="0" y="0"/>
                </a:lnTo>
                <a:lnTo>
                  <a:pt x="0" y="7376932"/>
                </a:lnTo>
                <a:lnTo>
                  <a:pt x="4032991" y="7376932"/>
                </a:lnTo>
                <a:lnTo>
                  <a:pt x="4032991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960870" y="2310390"/>
            <a:ext cx="3511401" cy="6946208"/>
            <a:chOff x="0" y="0"/>
            <a:chExt cx="2620010" cy="5182870"/>
          </a:xfrm>
        </p:grpSpPr>
        <p:sp>
          <p:nvSpPr>
            <p:cNvPr id="5" name="Freeform 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4640" r="-4523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196171" y="2310390"/>
            <a:ext cx="3511401" cy="6946208"/>
            <a:chOff x="0" y="0"/>
            <a:chExt cx="2620010" cy="518287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4988" r="-4988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28700" y="1222620"/>
            <a:ext cx="7204820" cy="1504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6"/>
              </a:lnSpc>
              <a:spcBef>
                <a:spcPct val="0"/>
              </a:spcBef>
            </a:pPr>
            <a:r>
              <a:rPr lang="en-US" sz="941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interfaces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AC445-DA36-5B8E-4B3F-040B4FA2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17A49E-C977-DB8D-00DB-6112143AE29C}"/>
              </a:ext>
            </a:extLst>
          </p:cNvPr>
          <p:cNvSpPr/>
          <p:nvPr/>
        </p:nvSpPr>
        <p:spPr>
          <a:xfrm flipH="1">
            <a:off x="0" y="1106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3A77785-7A77-EC67-C1A3-4BFFA45C300F}"/>
              </a:ext>
            </a:extLst>
          </p:cNvPr>
          <p:cNvSpPr txBox="1"/>
          <p:nvPr/>
        </p:nvSpPr>
        <p:spPr>
          <a:xfrm>
            <a:off x="5358510" y="2667721"/>
            <a:ext cx="7570979" cy="1064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7200" dirty="0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Conclusion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EDF4819-42A1-636A-7A1C-59EE37511C27}"/>
              </a:ext>
            </a:extLst>
          </p:cNvPr>
          <p:cNvSpPr/>
          <p:nvPr/>
        </p:nvSpPr>
        <p:spPr>
          <a:xfrm>
            <a:off x="15697200" y="5143500"/>
            <a:ext cx="2590800" cy="5395359"/>
          </a:xfrm>
          <a:custGeom>
            <a:avLst/>
            <a:gdLst/>
            <a:ahLst/>
            <a:cxnLst/>
            <a:rect l="l" t="t" r="r" b="b"/>
            <a:pathLst>
              <a:path w="3918454" h="7167427">
                <a:moveTo>
                  <a:pt x="0" y="0"/>
                </a:moveTo>
                <a:lnTo>
                  <a:pt x="3918454" y="0"/>
                </a:lnTo>
                <a:lnTo>
                  <a:pt x="3918454" y="7167428"/>
                </a:lnTo>
                <a:lnTo>
                  <a:pt x="0" y="71674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03236CFD-E4E1-9EEB-C59A-9E027C872E41}"/>
              </a:ext>
            </a:extLst>
          </p:cNvPr>
          <p:cNvSpPr txBox="1"/>
          <p:nvPr/>
        </p:nvSpPr>
        <p:spPr>
          <a:xfrm>
            <a:off x="1981200" y="3973426"/>
            <a:ext cx="14782800" cy="6445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155C94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This project aims to enhance child safety through a technical system that monitors vital signs and sends instant alerts in case of danger.</a:t>
            </a:r>
          </a:p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155C94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prototype, which combines a wearable bracelet with a mobile application, has shown strong potential for future development and real-world implementation.</a:t>
            </a:r>
          </a:p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155C94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36171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79043" y="1568046"/>
            <a:ext cx="12562209" cy="111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611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recommendations for Future Work</a:t>
            </a:r>
          </a:p>
        </p:txBody>
      </p:sp>
      <p:sp>
        <p:nvSpPr>
          <p:cNvPr id="4" name="Freeform 4"/>
          <p:cNvSpPr/>
          <p:nvPr/>
        </p:nvSpPr>
        <p:spPr>
          <a:xfrm>
            <a:off x="14369546" y="4269142"/>
            <a:ext cx="3918454" cy="7167427"/>
          </a:xfrm>
          <a:custGeom>
            <a:avLst/>
            <a:gdLst/>
            <a:ahLst/>
            <a:cxnLst/>
            <a:rect l="l" t="t" r="r" b="b"/>
            <a:pathLst>
              <a:path w="3918454" h="7167427">
                <a:moveTo>
                  <a:pt x="0" y="0"/>
                </a:moveTo>
                <a:lnTo>
                  <a:pt x="3918454" y="0"/>
                </a:lnTo>
                <a:lnTo>
                  <a:pt x="3918454" y="7167428"/>
                </a:lnTo>
                <a:lnTo>
                  <a:pt x="0" y="71674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28564" y="2974390"/>
            <a:ext cx="17834610" cy="5073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2950" lvl="1" indent="-361475" algn="l">
              <a:lnSpc>
                <a:spcPts val="5022"/>
              </a:lnSpc>
              <a:buFont typeface="Arial"/>
              <a:buChar char="•"/>
            </a:pPr>
            <a:r>
              <a:rPr lang="en-US" sz="3348" dirty="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the hardware design to be more durable, water-resistant, and comfortable for children.</a:t>
            </a:r>
          </a:p>
          <a:p>
            <a:pPr marL="722950" lvl="1" indent="-361475" algn="l">
              <a:lnSpc>
                <a:spcPts val="5022"/>
              </a:lnSpc>
              <a:buFont typeface="Arial"/>
              <a:buChar char="•"/>
            </a:pPr>
            <a:r>
              <a:rPr lang="en-US" sz="3348" dirty="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AI to detect early signs of health risks such as choking.</a:t>
            </a:r>
          </a:p>
          <a:p>
            <a:pPr marL="722950" lvl="1" indent="-361475" algn="l">
              <a:lnSpc>
                <a:spcPts val="5022"/>
              </a:lnSpc>
              <a:buFont typeface="Arial"/>
              <a:buChar char="•"/>
            </a:pPr>
            <a:r>
              <a:rPr lang="en-US" sz="3348" dirty="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cloud dashboard for medical professionals to monitor children remotely.</a:t>
            </a:r>
          </a:p>
          <a:p>
            <a:pPr marL="722950" lvl="1" indent="-361475" algn="l">
              <a:lnSpc>
                <a:spcPts val="5022"/>
              </a:lnSpc>
              <a:buFont typeface="Arial"/>
              <a:buChar char="•"/>
            </a:pPr>
            <a:r>
              <a:rPr lang="en-US" sz="3348" dirty="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monitoring multiple children under a single parent account.</a:t>
            </a:r>
          </a:p>
          <a:p>
            <a:pPr marL="722950" lvl="1" indent="-361475" algn="l">
              <a:lnSpc>
                <a:spcPts val="5022"/>
              </a:lnSpc>
              <a:buFont typeface="Arial"/>
              <a:buChar char="•"/>
            </a:pPr>
            <a:r>
              <a:rPr lang="en-US" sz="3348" dirty="0">
                <a:solidFill>
                  <a:srgbClr val="155C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health history charts and visual trends for better data tracking.</a:t>
            </a:r>
          </a:p>
          <a:p>
            <a:pPr algn="l">
              <a:lnSpc>
                <a:spcPts val="5022"/>
              </a:lnSpc>
            </a:pPr>
            <a:endParaRPr lang="en-US" sz="3348" dirty="0">
              <a:solidFill>
                <a:srgbClr val="155C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22"/>
              </a:lnSpc>
            </a:pPr>
            <a:endParaRPr lang="en-US" sz="3348" dirty="0">
              <a:solidFill>
                <a:srgbClr val="155C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22"/>
              </a:lnSpc>
            </a:pPr>
            <a:endParaRPr lang="en-US" sz="3348" dirty="0">
              <a:solidFill>
                <a:srgbClr val="155C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610152" y="5388823"/>
            <a:ext cx="2677848" cy="4898177"/>
          </a:xfrm>
          <a:custGeom>
            <a:avLst/>
            <a:gdLst/>
            <a:ahLst/>
            <a:cxnLst/>
            <a:rect l="l" t="t" r="r" b="b"/>
            <a:pathLst>
              <a:path w="2677848" h="4898177">
                <a:moveTo>
                  <a:pt x="0" y="0"/>
                </a:moveTo>
                <a:lnTo>
                  <a:pt x="2677848" y="0"/>
                </a:lnTo>
                <a:lnTo>
                  <a:pt x="2677848" y="4898177"/>
                </a:lnTo>
                <a:lnTo>
                  <a:pt x="0" y="4898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 l="-80112" r="-28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610152" y="-310224"/>
            <a:ext cx="2677848" cy="2677848"/>
          </a:xfrm>
          <a:custGeom>
            <a:avLst/>
            <a:gdLst/>
            <a:ahLst/>
            <a:cxnLst/>
            <a:rect l="l" t="t" r="r" b="b"/>
            <a:pathLst>
              <a:path w="2677848" h="2677848">
                <a:moveTo>
                  <a:pt x="0" y="0"/>
                </a:moveTo>
                <a:lnTo>
                  <a:pt x="2677848" y="0"/>
                </a:lnTo>
                <a:lnTo>
                  <a:pt x="2677848" y="2677848"/>
                </a:lnTo>
                <a:lnTo>
                  <a:pt x="0" y="2677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60386" y="3459074"/>
            <a:ext cx="12767228" cy="2876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100"/>
              </a:lnSpc>
              <a:spcBef>
                <a:spcPct val="0"/>
              </a:spcBef>
            </a:pPr>
            <a:r>
              <a:rPr lang="en-US" sz="20091">
                <a:solidFill>
                  <a:srgbClr val="155C94"/>
                </a:solidFill>
                <a:latin typeface="Gagalin"/>
                <a:ea typeface="Gagalin"/>
                <a:cs typeface="Gagalin"/>
                <a:sym typeface="Gagalin"/>
              </a:rPr>
              <a:t>thank you!</a:t>
            </a:r>
          </a:p>
        </p:txBody>
      </p:sp>
      <p:sp>
        <p:nvSpPr>
          <p:cNvPr id="6" name="Freeform 6"/>
          <p:cNvSpPr/>
          <p:nvPr/>
        </p:nvSpPr>
        <p:spPr>
          <a:xfrm>
            <a:off x="75771" y="0"/>
            <a:ext cx="2599983" cy="2502652"/>
          </a:xfrm>
          <a:custGeom>
            <a:avLst/>
            <a:gdLst/>
            <a:ahLst/>
            <a:cxnLst/>
            <a:rect l="l" t="t" r="r" b="b"/>
            <a:pathLst>
              <a:path w="2599983" h="2502652">
                <a:moveTo>
                  <a:pt x="0" y="0"/>
                </a:moveTo>
                <a:lnTo>
                  <a:pt x="2599983" y="0"/>
                </a:lnTo>
                <a:lnTo>
                  <a:pt x="2599983" y="2502652"/>
                </a:lnTo>
                <a:lnTo>
                  <a:pt x="0" y="25026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388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543</Words>
  <Application>Microsoft Office PowerPoint</Application>
  <PresentationFormat>مخصص</PresentationFormat>
  <Paragraphs>107</Paragraphs>
  <Slides>23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23</vt:i4>
      </vt:variant>
    </vt:vector>
  </HeadingPairs>
  <TitlesOfParts>
    <vt:vector size="30" baseType="lpstr">
      <vt:lpstr>Times New Roman</vt:lpstr>
      <vt:lpstr>Arial</vt:lpstr>
      <vt:lpstr>Gagalin</vt:lpstr>
      <vt:lpstr>Calibri</vt:lpstr>
      <vt:lpstr>Arimo</vt:lpstr>
      <vt:lpstr>Ballpoint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children's rights</dc:title>
  <dc:creator>محمد العنزي</dc:creator>
  <cp:lastModifiedBy>MOHAMMED TURKI MUBARAK ALHARIRI ALANAZI</cp:lastModifiedBy>
  <cp:revision>5</cp:revision>
  <dcterms:created xsi:type="dcterms:W3CDTF">2006-08-16T00:00:00Z</dcterms:created>
  <dcterms:modified xsi:type="dcterms:W3CDTF">2025-05-13T15:19:52Z</dcterms:modified>
  <dc:identifier>DAGlepoKSSQ</dc:identifier>
</cp:coreProperties>
</file>